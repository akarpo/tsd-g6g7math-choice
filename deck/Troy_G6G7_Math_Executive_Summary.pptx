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Troy SD G6-G7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Has IM + Detracking Outperformed Its Characteristics?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54864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Executive Summary — SEDA 2025.1 + M-STEP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A0B4CC"/>
                </a:solidFill>
                <a:latin typeface="Calibri"/>
              </a:defRPr>
            </a:pPr>
            <a:r>
              <a:t>Prepared May 2026 • 296-district national benchmark • 2009–2025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A0B4CC"/>
                </a:solidFill>
                <a:latin typeface="Calibri"/>
              </a:defRPr>
            </a:pPr>
            <a:r>
              <a:t>Repo: github.com/akarpo/tsd-g6g7math-choice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Three independent lines of evidence converge on the same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36576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3A5F"/>
                </a:solidFill>
                <a:latin typeface="Calibri"/>
              </a:defRPr>
            </a:pPr>
            <a: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Has Troy’s Fall 2023 adoption of Illustrative Mathematics and detracking of G6+G7 math produced results that outperform its characteristics?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051560"/>
            <a:ext cx="3840480" cy="237744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C8302F"/>
                </a:solidFill>
                <a:latin typeface="Calibri"/>
              </a:defRPr>
            </a:pPr>
            <a:r>
              <a:t>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ranks 197 of 295 level-matched peers (bottom third) in math recovery during the exact IM adoption window.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36576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36576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197 / 295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Level-matched peers rank Troy in the bottom third for IM-window 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749039"/>
            <a:ext cx="36576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3749039"/>
            <a:ext cx="36576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6th of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MI peers outpaced Troy in IM-window recovery (+0.076 vs +0.080 median)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3749039"/>
            <a:ext cx="41148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80" y="3749039"/>
            <a:ext cx="41148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3886199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526279"/>
            <a:ext cx="3657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 Asian still declining under IM — only subgroup not recovering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Troy Did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Fall 2023: Illustrative Mathematics adopted, G6+G7 math detracked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00400"/>
            <a:ext cx="98755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3099816"/>
            <a:ext cx="201168" cy="201168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914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Adopted Illustrative Mathematics;</a:t>
            </a:r>
            <a:br/>
            <a:r>
              <a:t>detracked G6 and G7 math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3099816"/>
            <a:ext cx="201168" cy="20116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First IM cohort tested</a:t>
            </a:r>
            <a:br/>
            <a:r>
              <a:t>(G6 M-STEP)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376" y="3099816"/>
            <a:ext cx="201168" cy="20116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year; first G7 IM</a:t>
            </a:r>
            <a:br/>
            <a:r>
              <a:t>cohort enters 7th grade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72216" y="3099816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G6 +</a:t>
            </a:r>
            <a:br/>
            <a:r>
              <a:t>first IM G7 tested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Prior: Big Ideas Math 7, Math 7/8 Honors, small Algebra 1 cohort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Troy’s Pre-COVID Math Position — Strong, Not Invincible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Pre-COVID G6+G7: +0.937 grade levels above national norm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 / 22</a:t>
            </a:r>
          </a:p>
        </p:txBody>
      </p:sp>
      <p:pic>
        <p:nvPicPr>
          <p:cNvPr id="8" name="Picture 7" descr="chart01_mi_peers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1F7A3D"/>
                </a:solidFill>
                <a:latin typeface="Calibri"/>
              </a:defRPr>
            </a:pPr>
            <a:r>
              <a:t>+0.937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 levels above national norm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2nd highest among MI affluent peers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Top quarter nationally (#76 / 296)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COVID Erased Troy's Math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Pre-COVID #76 → Post-COVID #135 among 296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 / 22</a:t>
            </a:r>
          </a:p>
        </p:txBody>
      </p:sp>
      <p:pic>
        <p:nvPicPr>
          <p:cNvPr id="8" name="Picture 7" descr="chart11_rank_shif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#76 → #135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474719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Lost 59 positions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Pre-COVID: top quarter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Post-COVID: mid-pack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COVID hit Troy harder than most peers. This is the deficit IM inherited.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MI Peer Leaderboard: Troy Holds at 4th in IM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Rank unchanged from 2023 to 2025 — no ground gained or lost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 / 22</a:t>
            </a:r>
          </a:p>
        </p:txBody>
      </p:sp>
      <p:pic>
        <p:nvPicPr>
          <p:cNvPr id="8" name="Picture 7" descr="chart12_mi_peer_b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A8201A"/>
                </a:solidFill>
                <a:latin typeface="Calibri"/>
              </a:defRPr>
            </a:pPr>
            <a:r>
              <a:t>Troy’s Rank Shift by Subgroup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8404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600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Subgroup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600200"/>
            <a:ext cx="1143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1600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938528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98424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198424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4th→4th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198424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322576"/>
            <a:ext cx="3474719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236829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368296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236829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706624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752344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752344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4th→5th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275234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8302F"/>
                </a:solidFill>
                <a:latin typeface="Calibri"/>
              </a:defRPr>
            </a:pPr>
            <a:r>
              <a:t>−1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3090672"/>
            <a:ext cx="3474719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313639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Econ Disadv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13639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313639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3474720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52044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Not Econ Disadv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52044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352044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041648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B7791F"/>
                </a:solidFill>
                <a:latin typeface="Calibri"/>
              </a:defRPr>
            </a:pPr>
            <a:r>
              <a:t>White subgroup dropped one spot (4th→5th).</a:t>
            </a:r>
            <a:br/>
            <a:r>
              <a:t>Rank stability = not closing the gap.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IM-Window Recovery: Troy Mid-Pack Among 22 Districts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Troy +0.076 — 13th of 22 analysis districts (2023 → 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 / 22</a:t>
            </a:r>
          </a:p>
        </p:txBody>
      </p:sp>
      <p:pic>
        <p:nvPicPr>
          <p:cNvPr id="8" name="Picture 7" descr="chart09_covid_delta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B7791F"/>
                </a:solidFill>
                <a:latin typeface="Calibri"/>
              </a:defRPr>
            </a:pPr>
            <a:r>
              <a:t>+0.076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grade-level recovery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(2023 → 2025)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Rank 13 / 22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mid-pack among analysis districts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6th of 8 MI peers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Critical Test: Recovery During the IM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296-peer ranking of IM-window recovery — Troy in the bottom third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8 / 22</a:t>
            </a:r>
          </a:p>
        </p:txBody>
      </p:sp>
      <p:pic>
        <p:nvPicPr>
          <p:cNvPr id="8" name="Picture 7" descr="chart04_level_matched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C8302F"/>
                </a:solidFill>
                <a:latin typeface="Calibri"/>
              </a:defRPr>
            </a:pPr>
            <a:r>
              <a:t>Rank 197 / 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5448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C8302F"/>
                </a:solidFill>
                <a:latin typeface="Calibri"/>
              </a:defRPr>
            </a:pPr>
            <a:r>
              <a:t>bottom third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148840"/>
            <a:ext cx="3474719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Troy: +0.024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Peer median: +0.058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Most peers recovered 2–3× more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Among MI Peers, Troy Ranks 6th of 8 in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Novi leads with 1.6× more recovery; Troy trails the median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9 / 22</a:t>
            </a:r>
          </a:p>
        </p:txBody>
      </p:sp>
      <p:pic>
        <p:nvPicPr>
          <p:cNvPr id="8" name="Picture 7" descr="chart03_im_window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640080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914400"/>
            <a:ext cx="5029200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0515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3A5F"/>
                </a:solidFill>
                <a:latin typeface="Calibri"/>
              </a:defRPr>
            </a:pPr>
            <a:r>
              <a:t>IM-Window Recovery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6362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156362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756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Birmingham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07568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0" y="207568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877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Northville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58775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258775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0998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Rochester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09981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611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Bloomfield Hills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6118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36118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50792"/>
            <a:ext cx="4754880" cy="512064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1239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Troy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1239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+0.076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4123944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(IM+detracked)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63600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West Bloomfield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463600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148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Walled 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14807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Math: The Tracked-vs-IM Comparison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2023-24 G7 tracked (+0.018). 2024-25 first G7 IM cohort (+0.061)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10 / 22</a:t>
            </a:r>
          </a:p>
        </p:txBody>
      </p:sp>
      <p:pic>
        <p:nvPicPr>
          <p:cNvPr id="8" name="Picture 7" descr="chart02_mi_peers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23317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2023-24: G7 still 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 still used Big Ideas Math with tracking. Troy gained +0.018 — 7th of 8 MI peers.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749039" cy="2560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5204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2024-25: First G7 IM 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931920"/>
            <a:ext cx="347471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gained +0.061 — 2nd of 8 MI peers. Recovery accelerated under 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Asian Subgroup: G6 Leads Recovery, G7 Lags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36% of Troy — strongest G6 IM-window recovery of any subgroup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11 / 22</a:t>
            </a:r>
          </a:p>
        </p:txBody>
      </p:sp>
      <p:pic>
        <p:nvPicPr>
          <p:cNvPr id="8" name="Picture 7" descr="chart05_asian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G6 Asian IM Δ: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1732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+0.312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9659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Strongest recovery of any Troy subgroup. #2 among MI peers in G6 Asian.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51460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G7 Asian IM Δ: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8036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42900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Only subgroup still declining. G7 had just one year of 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9776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Gap from pre-COVID: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34340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7791F"/>
                </a:solidFill>
                <a:latin typeface="Calibri"/>
              </a:defRPr>
            </a:pPr>
            <a:r>
              <a:t>−0.340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89204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G7 Asian still far below 2017-19 baseline despite G6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Asian: First IM Year Shows Slight Decline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High-Asian peers with tracking outpace Troy's G7 Asian (2023 → 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12 / 22</a:t>
            </a:r>
          </a:p>
        </p:txBody>
      </p:sp>
      <p:pic>
        <p:nvPicPr>
          <p:cNvPr id="8" name="Picture 7" descr="chart06_asian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1417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Issaquah (WA)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+0.384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468880"/>
            <a:ext cx="3749039" cy="1417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Bellevue (WA)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01752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+0.192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023360"/>
            <a:ext cx="3749039" cy="14173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416052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Troy (MI)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57200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IM-Window Recovery by Subgroup (2023 →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Asian leads combined recovery; White lags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13 / 22</a:t>
            </a:r>
          </a:p>
        </p:txBody>
      </p:sp>
      <p:pic>
        <p:nvPicPr>
          <p:cNvPr id="8" name="Picture 7" descr="chart07_troy_subgrou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Every subgroup recovered except G7 Asian (-0.028).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Asian G6 leads recovery (+0.312), strongest of any Troy subgroup.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White subgroup barely improved (+0.023 combined), 7th of 8 MI peers in G6.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ECD recovery is mixed: G6 flat (-0.007), G7 strong (+0.149, 3rd of 8).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All subgroups remain below pre-COVID levels.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M-STEP Math Proficiency: The Numbers Parents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Michigan M-STEP % proficient or advanced, grades 6 and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14 / 22</a:t>
            </a:r>
          </a:p>
        </p:txBody>
      </p:sp>
      <p:pic>
        <p:nvPicPr>
          <p:cNvPr id="8" name="Picture 7" descr="chart08_mstep_troy_pro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% Proficient or Advanced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591056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2021-22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2022-23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2023-24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2024-25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901952"/>
            <a:ext cx="347471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938528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71.4%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63.2%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65.8%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249424"/>
            <a:ext cx="3474719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286000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TBD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2871216"/>
            <a:ext cx="3474719" cy="109728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60" y="2871216"/>
            <a:ext cx="3474719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008376"/>
            <a:ext cx="32918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8302F"/>
                </a:solidFill>
                <a:latin typeface="Calibri"/>
              </a:defRPr>
            </a:pPr>
            <a:r>
              <a:t>IM has not restored Troy to pre-COVID proficiency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San Francisco: 12 Years of Detracking, Then Reversal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SFUSD eliminated Algebra 1 in 8th grade in 2014 — reversed March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15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12801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14300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23444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Achievement gaps WIDENED: Hispanic-White gap expanded 31 points (vs 5 statewide)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68879"/>
            <a:ext cx="11430000" cy="128016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68879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88919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88919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5175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AP math enrollment DECLINED 15%, driven by Asian/Pacific Islander students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199"/>
            <a:ext cx="11430000" cy="12801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886199"/>
            <a:ext cx="114300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06239"/>
            <a:ext cx="411480" cy="41148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06239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06907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Board voted March 2026 to RESTORE Algebra 1 in 8th grade at all schools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40679"/>
            <a:ext cx="11430000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32119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Troy is replicating a strategy with a well-documented failure pattern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Cambridge, MA: Detracked 2017–2019, Now Reversing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A second major detracking experiment now being reversed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16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5577840" cy="502920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530352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What They Did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5303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Eliminated accelerated math tracks across all middle schools between 2017 and 2019.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Goal: address racial disparities in advanced course enrollment by placing all students in the same heterogeneous math classes.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Mirrored SFUSD’s rationale: equal access would close gaps.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05840"/>
            <a:ext cx="5577840" cy="50292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143000"/>
            <a:ext cx="5303520" cy="41148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188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37360"/>
            <a:ext cx="5303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COVID obscured early results, but post-pandemic data showed persistent achievement gaps.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District is now reversing course and restoring algebra pathways in 8th grade.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Advanced students left for private schools or after-school tutoring — exacerbating the very inequities the policy aimed to fix.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‘50% Algebra 1’ Claim — Course Access ≠ Achievement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Course enrollment is not an achievement 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17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28016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SFUSD made the identical claim for a decade before test scores revealed no improvement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3464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SEDA shows Troy rose +0.076 in the IM window (2023→2025) but remains far below pre-COVID +0.937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8912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comparison is not past Troy enrollment — it’s what tracked peers achieve now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High-Performing Math Districts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Among 107 high-Asian (≥20%) peers, many recovered with tracking intact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18 / 22</a:t>
            </a:r>
          </a:p>
        </p:txBody>
      </p:sp>
      <p:pic>
        <p:nvPicPr>
          <p:cNvPr id="8" name="Picture 7" descr="chart10_high_asian_peers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7A3D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Among 107 high-Asian (≥20%) districts nationally, many California and New Jersey districts recovered to or surpassed pre-COVID levels.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These districts maintained tracking and traditional acceleration pathways.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is an outlier among its demographic peers — one of the few to adopt detracking.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data does not support the claim that detracking is necessary for equitable outcomes.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Illustrative Mathematics: Evidence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No published evidence of IM success in a district like Troy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4572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097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972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Comparability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4592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NYC District 11 (Bronx)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64592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25.8% → 50.6%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High-poverty, low-baseline; not comparable to Troy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77440"/>
            <a:ext cx="11430000" cy="822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514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Fort Zumwalt (MO)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5146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Effect size 0.16 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5146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Modest improvement; comparable to general instructional improvement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83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Philadelphia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3832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Process study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3832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No student outcomes data published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97679"/>
            <a:ext cx="11430000" cy="91440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297679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3483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7791F"/>
                </a:solidFill>
                <a:latin typeface="Calibri"/>
              </a:defRPr>
            </a:pPr>
            <a:r>
              <a:t>No published evidence of IM success in an affluent, high-performing, high-Asian district like Troy. The existing studies all involve high-poverty, low-baseline populations.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Five findings from three independent lines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1430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Troy has NOT outperformed — 6th of 8 MI peers, 197/295 nationally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21408"/>
            <a:ext cx="11247120" cy="9601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21408"/>
            <a:ext cx="54864" cy="96012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1284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G7 Asian most concerning — only subgroup still declining (−0.028)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91256"/>
            <a:ext cx="1124712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91256"/>
            <a:ext cx="54864" cy="960120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28269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G6 Asian a bright spot — strongest recovery (+0.312), #2 MI peers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61104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35254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Detracking evidence base against — SFUSD, Cambridge reversed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30952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30952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542239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Recovery real but slow — all subgroups still below pre-COVID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SEDA 2025.1 (Stanford CEPA) — NAEP-anchored cross-state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8813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Primary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cs (cohort-standardized), NAEP-anchored, expressed in grade levels above/below the national average. Enables cross-state, cross-year comparison.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6829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Time Windows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Pre-COVID baseline: 2017–19 mean. Post-COVID: 2022–25 mean. IM window: 2023 → 2025 (last pre-IM test to latest data).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4845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Peer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296 level-matched peers: pre-COVID G6+G7 math ±0.25 of Troy’s +0.937. 107 high-Asian peers: ≥20% Asian enrollment, pre-COVID ≥+0.50. 8 MI affluent peers: same state test, comparable demographics.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9286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M-STEP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Michigan School Data (mischooldata.org). % proficient or advanced, grades 6 and 7, 2021–22 through 2024–25.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Primary data sources and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143000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2025.1 — Stanford Center for Education Policy Analysis (CEPA). educationdata.urban.org / edopportunity.org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92808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84248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84248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Education Scorecard 2026 — Harvard-Stanford-Dartmouth collaboration. educationscorecard.org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34056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25496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25496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 School Data / M-STEP — Michigan Department of Education. mischooldata.org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75304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66744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6744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Dee, T., Huffaker, E., &amp; Novicoff, S. (2025). “Detracking and Advanced Course-Taking in San Francisco.” SFUSD study.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16552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07992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07992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Education Next — SFUSD detracking analysis and coverage of the March 2026 board reversal vote.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Brookings Institution — Detracking evidence review. Comprehensive survey of heterogeneous grouping outcomes.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