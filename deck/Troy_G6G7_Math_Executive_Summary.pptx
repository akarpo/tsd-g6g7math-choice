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Troy SD G6-G7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Has IM + Detracking Outperformed Its Characteristics?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54864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Executive Summary — SEDA 2025.1 + M-STEP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Prepared May 2026 • 296-district national benchmark • 2009–2025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Repo: github.com/akarpo/tsd-g6g7math-choice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three independent lines of evidence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36576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3A5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Has Troy’s Fall 2023 adoption of Illustrative Mathematics and detracking of G6+G7 math produced results that outperform its characteristics?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3840480" cy="237744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B02121"/>
                </a:solidFill>
                <a:latin typeface="Calibri"/>
              </a:defRPr>
            </a:pPr>
            <a:r>
              <a:t>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ranks 197 of 295 level-matched peers (bottom third) in math recovery during the exact IM adoption window.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3657600" cy="26517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36576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197 / 295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Level-matched peers rank Troy in the bottom third for IM-window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749039"/>
            <a:ext cx="3657600" cy="26517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3749039"/>
            <a:ext cx="3657600" cy="36576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6th of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MI peers outpaced Troy in IM-window recovery (+0.076 vs +0.080 median)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3749039"/>
            <a:ext cx="4114800" cy="26517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80" y="3749039"/>
            <a:ext cx="4114800" cy="36576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886199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526279"/>
            <a:ext cx="3657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Asian still declining under IM — only subgroup not recovering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Troy Did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Fall 2023: Illustrative Mathematics adopted, G6+G7 math detracked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98755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3099816"/>
            <a:ext cx="201168" cy="201168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914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Adopted Illustrative Mathematics;</a:t>
            </a:r>
            <a:br/>
            <a:r>
              <a:t>detracked G6 and G7 math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3099816"/>
            <a:ext cx="201168" cy="201168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First IM cohort tested</a:t>
            </a:r>
            <a:br/>
            <a:r>
              <a:t>(G6 M-STEP)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376" y="3099816"/>
            <a:ext cx="201168" cy="201168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year; first G7 IM</a:t>
            </a:r>
            <a:br/>
            <a:r>
              <a:t>cohort enters 7th grade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72216" y="3099816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G6 +</a:t>
            </a:r>
            <a:br/>
            <a:r>
              <a:t>first IM G7 tested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707070"/>
                </a:solidFill>
                <a:latin typeface="Calibri"/>
              </a:defRPr>
            </a:pPr>
            <a:r>
              <a:t>Prior: Big Ideas Math 7, Math 7/8 Honors, small Algebra 1 cohort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Troy’s Pre-COVID Math Position — Strong, Not Invincible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Pre-COVID G6+G7: +0.937 grade levels above national norm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 / 20</a:t>
            </a:r>
          </a:p>
        </p:txBody>
      </p:sp>
      <p:pic>
        <p:nvPicPr>
          <p:cNvPr id="8" name="Picture 7" descr="chart01_mi_peers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1F7A3D"/>
                </a:solidFill>
                <a:latin typeface="Calibri"/>
              </a:defRPr>
            </a:pPr>
            <a:r>
              <a:t>+0.937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 levels above national norm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2nd highest among MI affluent peers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Top quarter nationally (#76 / 296)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COVID Erased Troy's Math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Pre-COVID #76 to Post-COVID #135 among 296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 / 20</a:t>
            </a:r>
          </a:p>
        </p:txBody>
      </p:sp>
      <p:pic>
        <p:nvPicPr>
          <p:cNvPr id="8" name="Picture 7" descr="chart11_rank_shif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#76 → #135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474719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Lost 59 positions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Pre-COVID: top quarter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Post-COVID: mid-pack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hit Troy harder than most peers. This is the deficit IM inherited.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MI Peer Leaderboard: Troy Holds at 4th in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rank unchanged from 2023 to 2025 — no ground gained or lost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 / 20</a:t>
            </a:r>
          </a:p>
        </p:txBody>
      </p:sp>
      <p:pic>
        <p:nvPicPr>
          <p:cNvPr id="8" name="Picture 7" descr="chart12_mi_peer_b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A8201A"/>
                </a:solidFill>
                <a:latin typeface="Calibri"/>
              </a:defRPr>
            </a:pPr>
            <a:r>
              <a:t>Troy’s Rank Shift by Subgroup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8404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600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600200"/>
            <a:ext cx="1143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1600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938528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98424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98424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4th→4th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198424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07070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322576"/>
            <a:ext cx="3474719" cy="38404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36829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236829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07070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706624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75234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52344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4th→5th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275234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B02121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3090672"/>
            <a:ext cx="3474719" cy="38404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13639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Econ Disadv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136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313639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07070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3474720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52044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Not Econ Disadv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52044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352044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07070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041648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CC6A11"/>
                </a:solidFill>
                <a:latin typeface="Calibri"/>
              </a:defRPr>
            </a:pPr>
            <a:r>
              <a:t>White subgroup dropped one spot (4th→5th).</a:t>
            </a:r>
            <a:br/>
            <a:r>
              <a:t>Rank stability = not closing the gap.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Recovery: Troy Mid-Pack Among 22 Districts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Troy +0.076 — 13th of 22 analysis districts (2023-2025)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 / 20</a:t>
            </a:r>
          </a:p>
        </p:txBody>
      </p:sp>
      <p:pic>
        <p:nvPicPr>
          <p:cNvPr id="8" name="Picture 7" descr="chart09_covid_delta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CC6A11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grade-level recovery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(2023 → 2025)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Rank 13 / 22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mid-pack among analysis districts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6th of 8 MI peers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Critical Test: Recovery During the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296-peer ranking of IM-window recovery — Troy in the bottom third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 / 20</a:t>
            </a:r>
          </a:p>
        </p:txBody>
      </p:sp>
      <p:pic>
        <p:nvPicPr>
          <p:cNvPr id="8" name="Picture 7" descr="chart04_level_matched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B02121"/>
                </a:solidFill>
                <a:latin typeface="Calibri"/>
              </a:defRPr>
            </a:pPr>
            <a:r>
              <a:t>Rank 197 / 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5448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02121"/>
                </a:solidFill>
                <a:latin typeface="Calibri"/>
              </a:defRPr>
            </a:pPr>
            <a:r>
              <a:t>bottom third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148840"/>
            <a:ext cx="3474719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Troy: +0.024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Peer median: +0.058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Most peers recovered 2–3× more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Among MI Peers, Troy Ranks 6th of 8 in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Novi leads with 1.6x more recovery; Troy trails the median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9 / 20</a:t>
            </a:r>
          </a:p>
        </p:txBody>
      </p:sp>
      <p:pic>
        <p:nvPicPr>
          <p:cNvPr id="8" name="Picture 7" descr="chart03_im_window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640080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914400"/>
            <a:ext cx="5029200" cy="53949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0515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IM-Window Recovery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636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56362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756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Birmingham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07568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0" y="207568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07070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877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Northville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58775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258775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07070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0998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Rochester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09981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611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Bloomfield Hills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6118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36118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07070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50792"/>
            <a:ext cx="4754880" cy="512064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1239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Troy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1239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4123944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07070"/>
                </a:solidFill>
                <a:latin typeface="Calibri"/>
              </a:defRPr>
            </a:pPr>
            <a:r>
              <a:t>(IM+detracked)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63600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West Bloomfield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63600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148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Walled 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14807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Math: The Tracked-vs-IM Comparison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2023-24 G7 tracked (+0.018). 2024-25 first G7 IM cohort (+0.061)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10 / 20</a:t>
            </a:r>
          </a:p>
        </p:txBody>
      </p:sp>
      <p:pic>
        <p:nvPicPr>
          <p:cNvPr id="8" name="Picture 7" descr="chart02_mi_peers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233172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2023-24: G7 still 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still used Big Ideas Math with tracking. Troy gained +0.018 — 7th of 8 MI peers.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749039" cy="256032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5204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2024-25: First G7 IM 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931920"/>
            <a:ext cx="347471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gained +0.061 — 2nd of 8 MI peers. Recovery accelerated under 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Asian Subgroup: G6 Leads Recovery, G7 Lags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36% of Troy — strongest G6 IM-window recovery of any subgroup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11 / 20</a:t>
            </a:r>
          </a:p>
        </p:txBody>
      </p:sp>
      <p:pic>
        <p:nvPicPr>
          <p:cNvPr id="8" name="Picture 7" descr="chart05_asian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G6 Asian IM Δ: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1732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Strongest recovery of any Troy subgroup. #2 among MI peers in G6 Asian.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51460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G7 Asian IM 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8036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42900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Only subgroup still declining. G7 had just one year of 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9776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Gap from pre-COVID: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34340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C6A11"/>
                </a:solidFill>
                <a:latin typeface="Calibri"/>
              </a:defRPr>
            </a:pPr>
            <a:r>
              <a:t>−0.340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89204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G7 Asian still far below 2017-19 baseline despite G6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Asian: First IM Year Shows Slight Decline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High-Asian peers with tracking outpace Troy's G7 Asian (2023 →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12 / 20</a:t>
            </a:r>
          </a:p>
        </p:txBody>
      </p:sp>
      <p:pic>
        <p:nvPicPr>
          <p:cNvPr id="8" name="Picture 7" descr="chart06_asian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141732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Issaquah (WA)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468880"/>
            <a:ext cx="3749039" cy="141732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Bellevue (WA)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01752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+0.192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023360"/>
            <a:ext cx="3749039" cy="141732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416052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Troy (MI)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7200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02121"/>
                </a:solidFill>
                <a:latin typeface="Calibri"/>
              </a:defRPr>
            </a:pPr>
            <a:r>
              <a:t>−0.028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 by Subgroup (2023-2025)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Asian leads combined recovery; White lags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13 / 20</a:t>
            </a:r>
          </a:p>
        </p:txBody>
      </p:sp>
      <p:pic>
        <p:nvPicPr>
          <p:cNvPr id="8" name="Picture 7" descr="chart07_troy_subgrou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Every subgroup recovered except G7 Asian (-0.028).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Asian G6 leads recovery (+0.312), strongest of any Troy subgroup.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White subgroup barely improved (+0.023 combined), 7th of 8 MI peers in G6.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ECD recovery is mixed: G6 flat (-0.007), G7 strong (+0.149, 3rd of 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All subgroups remain below pre-COVID levels.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M-STEP Math Proficiency: The Numbers Parents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Michigan M-STEP % proficient or advanced, grades 6 and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14 / 20</a:t>
            </a:r>
          </a:p>
        </p:txBody>
      </p:sp>
      <p:pic>
        <p:nvPicPr>
          <p:cNvPr id="8" name="Picture 7" descr="chart08_mstep_troy_pro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% Proficient or Advanced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591056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2021-22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2022-23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2023-24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2024-25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901952"/>
            <a:ext cx="347471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938528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71.4%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249424"/>
            <a:ext cx="3474719" cy="34747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286000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TBD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2871216"/>
            <a:ext cx="3474719" cy="109728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60" y="2871216"/>
            <a:ext cx="3474719" cy="36576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008376"/>
            <a:ext cx="32918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02121"/>
                </a:solidFill>
                <a:latin typeface="Calibri"/>
              </a:defRPr>
            </a:pPr>
            <a:r>
              <a:t>IM has not restored Troy to pre-COVID proficiency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‘50% Algebra 1’ Claim - Course Access is not Achievement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course enrollment is not an achievement 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15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8016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Enrollment is not achievement. More students enrolled in Algebra 1 does not mean more have mastered prerequisite skills. Course access and course readiness are different metrics.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11430000" cy="36576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3464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SEDA shows Troy G6+G7 rose +0.076 in the IM window (2023-2025) but remains far below pre-COVID +0.937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8912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comparison is not past Troy enrollment - it is what tracked peers achieve 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High-Performing Math Districts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among 107 high-Asian (&gt;=20%) peers, many recovered with tracking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16 / 20</a:t>
            </a:r>
          </a:p>
        </p:txBody>
      </p:sp>
      <p:pic>
        <p:nvPicPr>
          <p:cNvPr id="8" name="Picture 7" descr="chart10_high_asian_peers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7A3D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Among 107 high-Asian (≥20%) districts nationally, many California and New Jersey districts recovered to or surpassed pre-COVID levels.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These districts maintained tracking and traditional acceleration pathways.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is an outlier among its demographic peers — one of the few to adopt detracking.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data does not support the claim that detracking is necessary for equitable outcomes.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Math: four findings from SEDA and M-STEP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17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4864" cy="96012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1430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Troy has NOT outperformed — 6th of 8 MI peers, 197/295 nationally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21408"/>
            <a:ext cx="11247120" cy="96012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21408"/>
            <a:ext cx="54864" cy="960120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1284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G7 Asian most concerning — only subgroup still declining (-0.028)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91256"/>
            <a:ext cx="11247120" cy="96012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91256"/>
            <a:ext cx="54864" cy="96012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28269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G6 Asian a bright spot — strongest recovery (+0.312), #2 MI peers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61104"/>
            <a:ext cx="54864" cy="960120"/>
          </a:xfrm>
          <a:prstGeom prst="rect">
            <a:avLst/>
          </a:prstGeom>
          <a:solidFill>
            <a:srgbClr val="CC6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5254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Recovery real but slow — all subgroups still below pre-COVID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G6+G7 Math — SEDA 2025.1 (Stanford CEPA) — NAEP-anchored cross-state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18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8813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cs (cohort-standardized), NAEP-anchored, expressed in grade levels above/below the national average. Enables cross-state, cross-year comparison.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6829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Time Windows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Pre-COVID baseline: 2017–19 mean. Post-COVID: 2022–25 mean. IM window: 2023 → 2025 (last pre-IM test to latest data).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4845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296 level-matched peers: pre-COVID G6+G7 math ±0.25 of Troy’s +0.937. 107 high-Asian peers: ≥20% Asian enrollment, pre-COVID ≥+0.50. 8 MI affluent peers: same state test, comparable demographics.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286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M-STEP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Michigan School Data (mischooldata.org). % proficient or advanced, grades 6 and 7, 2021–22 through 2024–25.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Primary data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19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4300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2025.1 -- Stanford Center for Education Policy Analysis (CEPA). edopportunity.org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92808"/>
            <a:ext cx="11430000" cy="80467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8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84248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Scorecard 2026 -- Harvard-Stanford-Dartmouth collaboration. educationscorecard.org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34056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25496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25496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 School Data / M-STEP -- Michigan Department of Education. mischooldata.org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Appendix -- Troy Slid from Top 2% to Top 4% Nationally in G6+G7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Year-by-year SEDA national ranking (all U.S. districts) + absolute level among 296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20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868680"/>
            <a:ext cx="4754880" cy="420624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02121"/>
                </a:solidFill>
                <a:latin typeface="Calibri"/>
              </a:defRPr>
            </a:pPr>
            <a:r>
              <a:t>National G6+G7 Math ranking trajectory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707070"/>
                </a:solidFill>
                <a:latin typeface="Calibri"/>
              </a:defRPr>
            </a:pPr>
            <a:r>
              <a:t>SEDA 2025.1 cs scale -- all U.S. districts with G6+G7 math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4572000" cy="274320"/>
          </a:xfrm>
          <a:prstGeom prst="rect">
            <a:avLst/>
          </a:prstGeom>
          <a:solidFill>
            <a:srgbClr val="B0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36776"/>
            <a:ext cx="868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36776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636776"/>
            <a:ext cx="868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636776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Percentile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29384"/>
            <a:ext cx="4572000" cy="365760"/>
          </a:xfrm>
          <a:prstGeom prst="rect">
            <a:avLst/>
          </a:prstGeom>
          <a:solidFill>
            <a:srgbClr val="E6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947672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1947672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+0.952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1947672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onsolas"/>
              </a:defRPr>
            </a:pPr>
            <a:r>
              <a:t>173 / 8,751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947672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Top 2.0%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31720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233172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+0.763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2331720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onsolas"/>
              </a:defRPr>
            </a:pPr>
            <a:r>
              <a:t>229 / 8,215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3317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Top 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15768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02121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715768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B02121"/>
                </a:solidFill>
                <a:latin typeface="Consolas"/>
              </a:defRPr>
            </a:pPr>
            <a:r>
              <a:t>+0.713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2715768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2121"/>
                </a:solidFill>
                <a:latin typeface="Consolas"/>
              </a:defRPr>
            </a:pPr>
            <a:r>
              <a:t>269 / 7,190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715768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Top 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099816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02121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09981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B02121"/>
                </a:solidFill>
                <a:latin typeface="Consolas"/>
              </a:defRPr>
            </a:pPr>
            <a:r>
              <a:t>+0.734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099816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2121"/>
                </a:solidFill>
                <a:latin typeface="Consolas"/>
              </a:defRPr>
            </a:pPr>
            <a:r>
              <a:t>294 / 6,995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099816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Top 4.2%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02121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3483864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B02121"/>
                </a:solidFill>
                <a:latin typeface="Consolas"/>
              </a:defRPr>
            </a:pPr>
            <a:r>
              <a:t>+0.790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483864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2121"/>
                </a:solidFill>
                <a:latin typeface="Consolas"/>
              </a:defRPr>
            </a:pPr>
            <a:r>
              <a:t>240 / 5,896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3483864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2121"/>
                </a:solidFill>
                <a:latin typeface="Calibri"/>
              </a:defRPr>
            </a:pPr>
            <a:r>
              <a:t>Top 4.1%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58768"/>
            <a:ext cx="4389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B02121"/>
                </a:solidFill>
                <a:latin typeface="Calibri"/>
              </a:defRPr>
            </a:pPr>
            <a:r>
              <a:t>Dropped ~70 national places since 2019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187952"/>
            <a:ext cx="4389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Troy went from top 2% nationally to top 4%.</a:t>
            </a:r>
            <a:br/>
            <a:r>
              <a:t>Score declined -0.162 grade levels.</a:t>
            </a:r>
            <a:br/>
            <a:r>
              <a:t>2025 rank ticks up as score partially recovered.</a:t>
            </a:r>
          </a:p>
        </p:txBody>
      </p:sp>
      <p:pic>
        <p:nvPicPr>
          <p:cNvPr id="39" name="Picture 38" descr="chart_seda_scatter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868680"/>
            <a:ext cx="6675120" cy="420624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274320" y="5166360"/>
            <a:ext cx="11612880" cy="12344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21208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F3A5F"/>
                </a:solidFill>
                <a:latin typeface="Calibri"/>
              </a:defRPr>
            </a:pPr>
            <a:r>
              <a:t>Among 296 level-matched peers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Pre-COVID rank:  76 / 296  (top quarter)</a:t>
            </a:r>
            <a:br/>
            <a:r>
              <a:t>Post-COVID rank: 135 / 296  (bottom 55%)</a:t>
            </a:r>
            <a:br/>
            <a:r>
              <a:t>70 districts leapfrogged Troy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521208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F3A5F"/>
                </a:solidFill>
                <a:latin typeface="Calibri"/>
              </a:defRPr>
            </a:pPr>
            <a:r>
              <a:t>Michigan affluent peers -- score delta (2019 to 2025)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46811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Birmingham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546811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1F7A3D"/>
                </a:solidFill>
                <a:latin typeface="Calibri"/>
              </a:defRPr>
            </a:pPr>
            <a:r>
              <a:t>+0.131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546811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Northville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546811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1F7A3D"/>
                </a:solidFill>
                <a:latin typeface="Calibri"/>
              </a:defRPr>
            </a:pPr>
            <a:r>
              <a:t>+0.087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546811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Bloomfield Hills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546811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1F7A3D"/>
                </a:solidFill>
                <a:latin typeface="Calibri"/>
              </a:defRPr>
            </a:pPr>
            <a:r>
              <a:t>+0.085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80" y="546811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Troy SD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546811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02121"/>
                </a:solidFill>
                <a:latin typeface="Calibri"/>
              </a:defRPr>
            </a:pPr>
            <a:r>
              <a:t>-0.162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78815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Novi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578815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02121"/>
                </a:solidFill>
                <a:latin typeface="Calibri"/>
              </a:defRPr>
            </a:pPr>
            <a:r>
              <a:t>-0.167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578815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W. Bloomfield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578815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02121"/>
                </a:solidFill>
                <a:latin typeface="Calibri"/>
              </a:defRPr>
            </a:pPr>
            <a:r>
              <a:t>-0.181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578815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Rochester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72600" y="578815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02121"/>
                </a:solidFill>
                <a:latin typeface="Calibri"/>
              </a:defRPr>
            </a:pPr>
            <a:r>
              <a:t>-0.188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2680" y="578815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Walled Lake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578815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02121"/>
                </a:solidFill>
                <a:latin typeface="Calibri"/>
              </a:defRPr>
            </a:pPr>
            <a:r>
              <a:t>-0.197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