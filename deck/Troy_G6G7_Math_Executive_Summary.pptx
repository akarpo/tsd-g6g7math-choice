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Troy SD G6-G7 Math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286000"/>
            <a:ext cx="10058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000" b="0">
                <a:solidFill>
                  <a:srgbClr val="FFFFFF"/>
                </a:solidFill>
                <a:latin typeface="Calibri"/>
              </a:defRPr>
            </a:pPr>
            <a:r>
              <a:t>Has IM + Detracking Outperformed Its Characteristics?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3063240"/>
            <a:ext cx="5486400" cy="182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32918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Executive Summary — SEDA 2025.1 + M-STEP 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3035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0">
                <a:solidFill>
                  <a:srgbClr val="A0B4CC"/>
                </a:solidFill>
                <a:latin typeface="Calibri"/>
              </a:defRPr>
            </a:pPr>
            <a:r>
              <a:t>Prepared May 2026 • 296-district national benchmark • 2009–2025 coverage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6692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0">
                <a:solidFill>
                  <a:srgbClr val="A0B4CC"/>
                </a:solidFill>
                <a:latin typeface="Calibri"/>
              </a:defRPr>
            </a:pPr>
            <a:r>
              <a:t>Repo: github.com/akarpo/tsd-g6g7math-choice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638544"/>
            <a:ext cx="82296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Calibri"/>
              </a:defRPr>
            </a:pPr>
            <a:r>
              <a:t>Troy SD G6-G7 Math — Executive Summary • github.com/akarpo/tsd-g6g7math-choice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638544"/>
            <a:ext cx="13716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FFFFFF"/>
                </a:solidFill>
                <a:latin typeface="Calibri"/>
              </a:defRPr>
            </a:pPr>
            <a:r>
              <a:t>1 / 22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ED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FFFFF"/>
                </a:solidFill>
                <a:latin typeface="Calibri"/>
              </a:defRPr>
            </a:pPr>
            <a:r>
              <a:t>The Question — and the One-Line 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75488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A0B4CC"/>
                </a:solidFill>
                <a:latin typeface="Calibri"/>
              </a:defRPr>
            </a:pPr>
            <a:r>
              <a:t>Three independent lines of evidence converge on the same answer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38544"/>
            <a:ext cx="82296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Calibri"/>
              </a:defRPr>
            </a:pPr>
            <a:r>
              <a:t>Troy SD G6-G7 Math — Executive Summary • github.com/akarpo/tsd-g6g7math-choice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638544"/>
            <a:ext cx="13716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FFFFFF"/>
                </a:solidFill>
                <a:latin typeface="Calibri"/>
              </a:defRPr>
            </a:pPr>
            <a:r>
              <a:t>2 / 22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051560"/>
            <a:ext cx="3657600" cy="2377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161288"/>
            <a:ext cx="1828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1F3A5F"/>
                </a:solidFill>
                <a:latin typeface="Calibri"/>
              </a:defRPr>
            </a:pPr>
            <a:r>
              <a:t>QUESTION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54480"/>
            <a:ext cx="329184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Calibri"/>
              </a:defRPr>
            </a:pPr>
            <a:r>
              <a:t>Has Troy’s Fall 2023 adoption of Illustrative Mathematics and detracking of G6+G7 math produced results that outperform its characteristics?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06240" y="1051560"/>
            <a:ext cx="3840480" cy="2377440"/>
          </a:xfrm>
          <a:prstGeom prst="rect">
            <a:avLst/>
          </a:prstGeom>
          <a:solidFill>
            <a:srgbClr val="FBE7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89120" y="1161288"/>
            <a:ext cx="1828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C8302F"/>
                </a:solidFill>
                <a:latin typeface="Calibri"/>
              </a:defRPr>
            </a:pPr>
            <a:r>
              <a:t>ANSWER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1554480"/>
            <a:ext cx="1371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200" b="1">
                <a:solidFill>
                  <a:srgbClr val="C8302F"/>
                </a:solidFill>
                <a:latin typeface="Calibri"/>
              </a:defRPr>
            </a:pPr>
            <a:r>
              <a:t>No.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0" y="2194560"/>
            <a:ext cx="34747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Calibri"/>
              </a:defRPr>
            </a:pPr>
            <a:r>
              <a:t>Troy ranks 197 of 295 level-matched peers (bottom third) in math recovery during the exact IM adoption window.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3749039"/>
            <a:ext cx="3657600" cy="2651760"/>
          </a:xfrm>
          <a:prstGeom prst="rect">
            <a:avLst/>
          </a:prstGeom>
          <a:solidFill>
            <a:srgbClr val="FBE7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3749039"/>
            <a:ext cx="3657600" cy="36576"/>
          </a:xfrm>
          <a:prstGeom prst="rect">
            <a:avLst/>
          </a:prstGeom>
          <a:solidFill>
            <a:srgbClr val="C83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3886199"/>
            <a:ext cx="3383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>
                <a:solidFill>
                  <a:srgbClr val="C8302F"/>
                </a:solidFill>
                <a:latin typeface="Calibri"/>
              </a:defRPr>
            </a:pPr>
            <a:r>
              <a:t>197 / 295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4526279"/>
            <a:ext cx="338328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Calibri"/>
              </a:defRPr>
            </a:pPr>
            <a:r>
              <a:t>Level-matched peers rank Troy in the bottom third for IM-window recovery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60520" y="3749039"/>
            <a:ext cx="3657600" cy="2651760"/>
          </a:xfrm>
          <a:prstGeom prst="rect">
            <a:avLst/>
          </a:prstGeom>
          <a:solidFill>
            <a:srgbClr val="FBE7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160520" y="3749039"/>
            <a:ext cx="3657600" cy="36576"/>
          </a:xfrm>
          <a:prstGeom prst="rect">
            <a:avLst/>
          </a:prstGeom>
          <a:solidFill>
            <a:srgbClr val="C83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297680" y="3886199"/>
            <a:ext cx="3383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>
                <a:solidFill>
                  <a:srgbClr val="C8302F"/>
                </a:solidFill>
                <a:latin typeface="Calibri"/>
              </a:defRPr>
            </a:pPr>
            <a:r>
              <a:t>59 positions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97680" y="4526279"/>
            <a:ext cx="338328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Calibri"/>
              </a:defRPr>
            </a:pPr>
            <a:r>
              <a:t>Lost in national rankings — from #76 (top quarter) to #135 (mid-pack)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955280" y="3749039"/>
            <a:ext cx="4114800" cy="2651760"/>
          </a:xfrm>
          <a:prstGeom prst="rect">
            <a:avLst/>
          </a:prstGeom>
          <a:solidFill>
            <a:srgbClr val="E8F5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955280" y="3749039"/>
            <a:ext cx="4114800" cy="36576"/>
          </a:xfrm>
          <a:prstGeom prst="rect">
            <a:avLst/>
          </a:prstGeom>
          <a:solidFill>
            <a:srgbClr val="1F7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92440" y="3886199"/>
            <a:ext cx="3657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>
                <a:solidFill>
                  <a:srgbClr val="1F7A3D"/>
                </a:solidFill>
                <a:latin typeface="Calibri"/>
              </a:defRPr>
            </a:pPr>
            <a:r>
              <a:t>9×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92440" y="4526279"/>
            <a:ext cx="36576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Calibri"/>
              </a:defRPr>
            </a:pPr>
            <a:r>
              <a:t>Birmingham recovered 9× more than Troy in the same window, same county, with tracking intact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ED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FFFFF"/>
                </a:solidFill>
                <a:latin typeface="Calibri"/>
              </a:defRPr>
            </a:pPr>
            <a:r>
              <a:t>What Troy Did and When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75488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A0B4CC"/>
                </a:solidFill>
                <a:latin typeface="Calibri"/>
              </a:defRPr>
            </a:pPr>
            <a:r>
              <a:t>Fall 2023: Illustrative Mathematics adopted, G6+G7 math detracked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38544"/>
            <a:ext cx="82296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Calibri"/>
              </a:defRPr>
            </a:pPr>
            <a:r>
              <a:t>Troy SD G6-G7 Math — Executive Summary • github.com/akarpo/tsd-g6g7math-choice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638544"/>
            <a:ext cx="13716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FFFFFF"/>
                </a:solidFill>
                <a:latin typeface="Calibri"/>
              </a:defRPr>
            </a:pPr>
            <a:r>
              <a:t>3 / 22</a:t>
            </a:r>
          </a:p>
        </p:txBody>
      </p:sp>
      <p:sp>
        <p:nvSpPr>
          <p:cNvPr id="8" name="Rectangle 7"/>
          <p:cNvSpPr/>
          <p:nvPr/>
        </p:nvSpPr>
        <p:spPr>
          <a:xfrm>
            <a:off x="1097280" y="3200400"/>
            <a:ext cx="9875520" cy="36576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96696" y="3099816"/>
            <a:ext cx="201168" cy="201168"/>
          </a:xfrm>
          <a:prstGeom prst="rect">
            <a:avLst/>
          </a:prstGeom>
          <a:solidFill>
            <a:srgbClr val="C83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0" y="2286000"/>
            <a:ext cx="2194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600" b="1">
                <a:solidFill>
                  <a:srgbClr val="1F3A5F"/>
                </a:solidFill>
                <a:latin typeface="Calibri"/>
              </a:defRPr>
            </a:pPr>
            <a:r>
              <a:t>Fall 2023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-91440" y="3474720"/>
            <a:ext cx="23774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300" b="0">
                <a:solidFill>
                  <a:srgbClr val="333333"/>
                </a:solidFill>
                <a:latin typeface="Calibri"/>
              </a:defRPr>
            </a:pPr>
            <a:r>
              <a:t>Adopted Illustrative Mathematics;</a:t>
            </a:r>
            <a:br/>
            <a:r>
              <a:t>detracked G6 and G7 math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88536" y="3099816"/>
            <a:ext cx="201168" cy="201168"/>
          </a:xfrm>
          <a:prstGeom prst="rect">
            <a:avLst/>
          </a:prstGeom>
          <a:solidFill>
            <a:srgbClr val="B779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91840" y="2286000"/>
            <a:ext cx="2194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600" b="1">
                <a:solidFill>
                  <a:srgbClr val="1F3A5F"/>
                </a:solidFill>
                <a:latin typeface="Calibri"/>
              </a:defRPr>
            </a:pPr>
            <a:r>
              <a:t>Spring 2024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3474720"/>
            <a:ext cx="23774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300" b="0">
                <a:solidFill>
                  <a:srgbClr val="333333"/>
                </a:solidFill>
                <a:latin typeface="Calibri"/>
              </a:defRPr>
            </a:pPr>
            <a:r>
              <a:t>First IM cohort tested</a:t>
            </a:r>
            <a:br/>
            <a:r>
              <a:t>(G6 M-STEP)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580376" y="3099816"/>
            <a:ext cx="201168" cy="201168"/>
          </a:xfrm>
          <a:prstGeom prst="rect">
            <a:avLst/>
          </a:prstGeom>
          <a:solidFill>
            <a:srgbClr val="B779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0" y="2286000"/>
            <a:ext cx="2194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600" b="1">
                <a:solidFill>
                  <a:srgbClr val="1F3A5F"/>
                </a:solidFill>
                <a:latin typeface="Calibri"/>
              </a:defRPr>
            </a:pPr>
            <a:r>
              <a:t>Fall 2024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3474720"/>
            <a:ext cx="23774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300" b="0">
                <a:solidFill>
                  <a:srgbClr val="333333"/>
                </a:solidFill>
                <a:latin typeface="Calibri"/>
              </a:defRPr>
            </a:pPr>
            <a:r>
              <a:t>Second IM year; first G7 IM</a:t>
            </a:r>
            <a:br/>
            <a:r>
              <a:t>cohort enters 7th grade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872216" y="3099816"/>
            <a:ext cx="201168" cy="20116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875520" y="2286000"/>
            <a:ext cx="2194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600" b="1">
                <a:solidFill>
                  <a:srgbClr val="1F3A5F"/>
                </a:solidFill>
                <a:latin typeface="Calibri"/>
              </a:defRPr>
            </a:pPr>
            <a:r>
              <a:t>Spring 2025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84080" y="3474720"/>
            <a:ext cx="23774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300" b="0">
                <a:solidFill>
                  <a:srgbClr val="333333"/>
                </a:solidFill>
                <a:latin typeface="Calibri"/>
              </a:defRPr>
            </a:pPr>
            <a:r>
              <a:t>Second IM G6 +</a:t>
            </a:r>
            <a:br/>
            <a:r>
              <a:t>first IM G7 tested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303520"/>
            <a:ext cx="11247120" cy="64008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5394960"/>
            <a:ext cx="108813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300" b="0">
                <a:solidFill>
                  <a:srgbClr val="777777"/>
                </a:solidFill>
                <a:latin typeface="Calibri"/>
              </a:defRPr>
            </a:pPr>
            <a:r>
              <a:t>Prior: Big Ideas Math 7, Math 7/8 Honors, small Algebra 1 cohort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ED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FFFFF"/>
                </a:solidFill>
                <a:latin typeface="Calibri"/>
              </a:defRPr>
            </a:pPr>
            <a:r>
              <a:t>Troy’s Pre-COVID Math Position — Strong, Not Invincible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75488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A0B4CC"/>
                </a:solidFill>
                <a:latin typeface="Calibri"/>
              </a:defRPr>
            </a:pPr>
            <a:r>
              <a:t>Pre-COVID G6+G7: +0.937 grade levels above national norm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38544"/>
            <a:ext cx="82296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Calibri"/>
              </a:defRPr>
            </a:pPr>
            <a:r>
              <a:t>Troy SD G6-G7 Math — Executive Summary • github.com/akarpo/tsd-g6g7math-choice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638544"/>
            <a:ext cx="13716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FFFFFF"/>
                </a:solidFill>
                <a:latin typeface="Calibri"/>
              </a:defRPr>
            </a:pPr>
            <a:r>
              <a:t>4 / 22</a:t>
            </a:r>
          </a:p>
        </p:txBody>
      </p:sp>
      <p:pic>
        <p:nvPicPr>
          <p:cNvPr id="8" name="Picture 7" descr="chart01_mi_peers_g6_tr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914400"/>
            <a:ext cx="7863840" cy="539496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8229600" y="914400"/>
            <a:ext cx="3749039" cy="5394960"/>
          </a:xfrm>
          <a:prstGeom prst="rect">
            <a:avLst/>
          </a:prstGeom>
          <a:solidFill>
            <a:srgbClr val="E8F5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66760" y="1051560"/>
            <a:ext cx="347471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200" b="1">
                <a:solidFill>
                  <a:srgbClr val="1F7A3D"/>
                </a:solidFill>
                <a:latin typeface="Calibri"/>
              </a:defRPr>
            </a:pPr>
            <a:r>
              <a:t>+0.937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66760" y="1737360"/>
            <a:ext cx="3474719" cy="4389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  <a:defRPr sz="1500" b="0">
                <a:solidFill>
                  <a:srgbClr val="333333"/>
                </a:solidFill>
                <a:latin typeface="Calibri"/>
              </a:defRPr>
            </a:pPr>
            <a:r>
              <a:t>grade levels above national norm</a:t>
            </a:r>
          </a:p>
          <a:p>
            <a:pPr algn="l">
              <a:spcAft>
                <a:spcPts val="600"/>
              </a:spcAft>
              <a:defRPr sz="1500" b="0">
                <a:solidFill>
                  <a:srgbClr val="333333"/>
                </a:solidFill>
                <a:latin typeface="Calibri"/>
              </a:defRPr>
            </a:pPr>
          </a:p>
          <a:p>
            <a:pPr algn="l">
              <a:spcAft>
                <a:spcPts val="600"/>
              </a:spcAft>
              <a:defRPr sz="1500" b="0">
                <a:solidFill>
                  <a:srgbClr val="333333"/>
                </a:solidFill>
                <a:latin typeface="Calibri"/>
              </a:defRPr>
            </a:pPr>
            <a:r>
              <a:t>2nd highest among MI affluent peers</a:t>
            </a:r>
          </a:p>
          <a:p>
            <a:pPr algn="l">
              <a:spcAft>
                <a:spcPts val="600"/>
              </a:spcAft>
              <a:defRPr sz="1500" b="0">
                <a:solidFill>
                  <a:srgbClr val="333333"/>
                </a:solidFill>
                <a:latin typeface="Calibri"/>
              </a:defRPr>
            </a:pPr>
          </a:p>
          <a:p>
            <a:pPr algn="l">
              <a:spcAft>
                <a:spcPts val="600"/>
              </a:spcAft>
              <a:defRPr sz="1500" b="0">
                <a:solidFill>
                  <a:srgbClr val="333333"/>
                </a:solidFill>
                <a:latin typeface="Calibri"/>
              </a:defRPr>
            </a:pPr>
            <a:r>
              <a:t>Top quarter nationally (#76 / 296)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ED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FFFFF"/>
                </a:solidFill>
                <a:latin typeface="Calibri"/>
              </a:defRPr>
            </a:pPr>
            <a:r>
              <a:t>Troy Fell 59 Places in the National Math Rankings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75488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A0B4CC"/>
                </a:solidFill>
                <a:latin typeface="Calibri"/>
              </a:defRPr>
            </a:pPr>
            <a:r>
              <a:t>From top-quarter to mid-pack among 296 level-matched peers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38544"/>
            <a:ext cx="82296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Calibri"/>
              </a:defRPr>
            </a:pPr>
            <a:r>
              <a:t>Troy SD G6-G7 Math — Executive Summary • github.com/akarpo/tsd-g6g7math-choice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638544"/>
            <a:ext cx="13716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FFFFFF"/>
                </a:solidFill>
                <a:latin typeface="Calibri"/>
              </a:defRPr>
            </a:pPr>
            <a:r>
              <a:t>5 / 22</a:t>
            </a:r>
          </a:p>
        </p:txBody>
      </p:sp>
      <p:pic>
        <p:nvPicPr>
          <p:cNvPr id="8" name="Picture 7" descr="chart11_rank_shift_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914400"/>
            <a:ext cx="7863840" cy="539496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8229600" y="914400"/>
            <a:ext cx="3749039" cy="5394960"/>
          </a:xfrm>
          <a:prstGeom prst="rect">
            <a:avLst/>
          </a:prstGeom>
          <a:solidFill>
            <a:srgbClr val="FBE7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66760" y="1051560"/>
            <a:ext cx="3474719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>
                <a:solidFill>
                  <a:srgbClr val="C8302F"/>
                </a:solidFill>
                <a:latin typeface="Calibri"/>
              </a:defRPr>
            </a:pPr>
            <a:r>
              <a:t>#76 → #135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66760" y="1828800"/>
            <a:ext cx="3474719" cy="4297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  <a:defRPr sz="1500" b="0">
                <a:solidFill>
                  <a:srgbClr val="333333"/>
                </a:solidFill>
                <a:latin typeface="Calibri"/>
              </a:defRPr>
            </a:pPr>
            <a:r>
              <a:t>Lost 59 positions</a:t>
            </a:r>
          </a:p>
          <a:p>
            <a:pPr algn="l">
              <a:spcAft>
                <a:spcPts val="600"/>
              </a:spcAft>
              <a:defRPr sz="1500" b="0">
                <a:solidFill>
                  <a:srgbClr val="333333"/>
                </a:solidFill>
                <a:latin typeface="Calibri"/>
              </a:defRPr>
            </a:pPr>
          </a:p>
          <a:p>
            <a:pPr algn="l">
              <a:spcAft>
                <a:spcPts val="600"/>
              </a:spcAft>
              <a:defRPr sz="1500" b="0">
                <a:solidFill>
                  <a:srgbClr val="333333"/>
                </a:solidFill>
                <a:latin typeface="Calibri"/>
              </a:defRPr>
            </a:pPr>
            <a:r>
              <a:t>Pre-COVID: top quarter</a:t>
            </a:r>
          </a:p>
          <a:p>
            <a:pPr algn="l">
              <a:spcAft>
                <a:spcPts val="600"/>
              </a:spcAft>
              <a:defRPr sz="1500" b="0">
                <a:solidFill>
                  <a:srgbClr val="333333"/>
                </a:solidFill>
                <a:latin typeface="Calibri"/>
              </a:defRPr>
            </a:pPr>
            <a:r>
              <a:t>Post-COVID: mid-pack</a:t>
            </a:r>
          </a:p>
          <a:p>
            <a:pPr algn="l">
              <a:spcAft>
                <a:spcPts val="600"/>
              </a:spcAft>
              <a:defRPr sz="1500" b="0">
                <a:solidFill>
                  <a:srgbClr val="333333"/>
                </a:solidFill>
                <a:latin typeface="Calibri"/>
              </a:defRPr>
            </a:pPr>
          </a:p>
          <a:p>
            <a:pPr algn="l">
              <a:spcAft>
                <a:spcPts val="600"/>
              </a:spcAft>
              <a:defRPr sz="1500" b="0">
                <a:solidFill>
                  <a:srgbClr val="333333"/>
                </a:solidFill>
                <a:latin typeface="Calibri"/>
              </a:defRPr>
            </a:pPr>
            <a:r>
              <a:t>Peers at the same starting level pulled ahead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ED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FFFFF"/>
                </a:solidFill>
                <a:latin typeface="Calibri"/>
              </a:defRPr>
            </a:pPr>
            <a:r>
              <a:t>MI Peer Leaderboard: Troy Fell From 2nd to 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75488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A0B4CC"/>
                </a:solidFill>
                <a:latin typeface="Calibri"/>
              </a:defRPr>
            </a:pPr>
            <a:r>
              <a:t>4 of 5 subgroups lost positions under IM + detracking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38544"/>
            <a:ext cx="82296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Calibri"/>
              </a:defRPr>
            </a:pPr>
            <a:r>
              <a:t>Troy SD G6-G7 Math — Executive Summary • github.com/akarpo/tsd-g6g7math-choice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638544"/>
            <a:ext cx="13716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FFFFFF"/>
                </a:solidFill>
                <a:latin typeface="Calibri"/>
              </a:defRPr>
            </a:pPr>
            <a:r>
              <a:t>6 / 22</a:t>
            </a:r>
          </a:p>
        </p:txBody>
      </p:sp>
      <p:pic>
        <p:nvPicPr>
          <p:cNvPr id="8" name="Picture 7" descr="chart12_mi_peer_bum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914400"/>
            <a:ext cx="7863840" cy="539496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8229600" y="914400"/>
            <a:ext cx="3749039" cy="5394960"/>
          </a:xfrm>
          <a:prstGeom prst="rect">
            <a:avLst/>
          </a:prstGeom>
          <a:solidFill>
            <a:srgbClr val="FBE7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66760" y="1051560"/>
            <a:ext cx="347471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A8201A"/>
                </a:solidFill>
                <a:latin typeface="Calibri"/>
              </a:defRPr>
            </a:pPr>
            <a:r>
              <a:t>Troy’s Rank Shift by Subgroup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366760" y="1554480"/>
            <a:ext cx="3474719" cy="38404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39912" y="1600200"/>
            <a:ext cx="16916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Subgroup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0" y="1600200"/>
            <a:ext cx="11430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Shift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01400" y="1600200"/>
            <a:ext cx="6400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Δ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938528"/>
            <a:ext cx="3474719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39912" y="1984248"/>
            <a:ext cx="1691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1">
                <a:solidFill>
                  <a:srgbClr val="333333"/>
                </a:solidFill>
                <a:latin typeface="Calibri"/>
              </a:defRPr>
            </a:pPr>
            <a:r>
              <a:t>All Students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0" y="1984248"/>
            <a:ext cx="1143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2nd→4th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01400" y="1984248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300" b="1">
                <a:solidFill>
                  <a:srgbClr val="C8302F"/>
                </a:solidFill>
                <a:latin typeface="Calibri"/>
              </a:defRPr>
            </a:pPr>
            <a:r>
              <a:t>−2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366760" y="2322576"/>
            <a:ext cx="3474719" cy="384048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39912" y="2368296"/>
            <a:ext cx="1691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1">
                <a:solidFill>
                  <a:srgbClr val="333333"/>
                </a:solidFill>
                <a:latin typeface="Calibri"/>
              </a:defRPr>
            </a:pPr>
            <a:r>
              <a:t>Asian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0" y="2368296"/>
            <a:ext cx="1143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1st→2nd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01400" y="2368296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300" b="1">
                <a:solidFill>
                  <a:srgbClr val="C8302F"/>
                </a:solidFill>
                <a:latin typeface="Calibri"/>
              </a:defRPr>
            </a:pPr>
            <a:r>
              <a:t>−1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366760" y="2706624"/>
            <a:ext cx="3474719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39912" y="2752344"/>
            <a:ext cx="1691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1">
                <a:solidFill>
                  <a:srgbClr val="333333"/>
                </a:solidFill>
                <a:latin typeface="Calibri"/>
              </a:defRPr>
            </a:pPr>
            <a:r>
              <a:t>White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0" y="2752344"/>
            <a:ext cx="1143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6th→5th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201400" y="2752344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300" b="1">
                <a:solidFill>
                  <a:srgbClr val="1F7A3D"/>
                </a:solidFill>
                <a:latin typeface="Calibri"/>
              </a:defRPr>
            </a:pPr>
            <a:r>
              <a:t>+1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366760" y="3090672"/>
            <a:ext cx="3474719" cy="384048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39912" y="3136392"/>
            <a:ext cx="1691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1">
                <a:solidFill>
                  <a:srgbClr val="333333"/>
                </a:solidFill>
                <a:latin typeface="Calibri"/>
              </a:defRPr>
            </a:pPr>
            <a:r>
              <a:t>Econ Disadv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58400" y="3136392"/>
            <a:ext cx="1143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3rd→4th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201400" y="3136392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300" b="1">
                <a:solidFill>
                  <a:srgbClr val="C8302F"/>
                </a:solidFill>
                <a:latin typeface="Calibri"/>
              </a:defRPr>
            </a:pPr>
            <a:r>
              <a:t>−1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366760" y="3474720"/>
            <a:ext cx="3474719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439912" y="3520440"/>
            <a:ext cx="1691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1">
                <a:solidFill>
                  <a:srgbClr val="333333"/>
                </a:solidFill>
                <a:latin typeface="Calibri"/>
              </a:defRPr>
            </a:pPr>
            <a:r>
              <a:t>Not Econ Disadv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58400" y="3520440"/>
            <a:ext cx="1143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2nd→3rd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201400" y="3520440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300" b="1">
                <a:solidFill>
                  <a:srgbClr val="C8302F"/>
                </a:solidFill>
                <a:latin typeface="Calibri"/>
              </a:defRPr>
            </a:pPr>
            <a:r>
              <a:t>−1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66760" y="4041648"/>
            <a:ext cx="347471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C8302F"/>
                </a:solidFill>
                <a:latin typeface="Calibri"/>
              </a:defRPr>
            </a:pPr>
            <a:r>
              <a:t>Was #1 Asian math in MI.</a:t>
            </a:r>
            <a:br/>
            <a:r>
              <a:t>Northville now leads.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ED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FFFFF"/>
                </a:solidFill>
                <a:latin typeface="Calibri"/>
              </a:defRPr>
            </a:pPr>
            <a:r>
              <a:t>The Post-COVID Decline Hit Troy Hard in Math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75488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A0B4CC"/>
                </a:solidFill>
                <a:latin typeface="Calibri"/>
              </a:defRPr>
            </a:pPr>
            <a:r>
              <a:t>Troy declined −0.187 grade levels — rank 104 of 296 (35th percentile)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38544"/>
            <a:ext cx="82296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Calibri"/>
              </a:defRPr>
            </a:pPr>
            <a:r>
              <a:t>Troy SD G6-G7 Math — Executive Summary • github.com/akarpo/tsd-g6g7math-choice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638544"/>
            <a:ext cx="13716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FFFFFF"/>
                </a:solidFill>
                <a:latin typeface="Calibri"/>
              </a:defRPr>
            </a:pPr>
            <a:r>
              <a:t>7 / 22</a:t>
            </a:r>
          </a:p>
        </p:txBody>
      </p:sp>
      <p:pic>
        <p:nvPicPr>
          <p:cNvPr id="8" name="Picture 7" descr="chart09_covid_delta_rank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914400"/>
            <a:ext cx="7863840" cy="539496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8229600" y="914400"/>
            <a:ext cx="3749039" cy="5394960"/>
          </a:xfrm>
          <a:prstGeom prst="rect">
            <a:avLst/>
          </a:prstGeom>
          <a:solidFill>
            <a:srgbClr val="FBE7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66760" y="1051560"/>
            <a:ext cx="347471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200" b="1">
                <a:solidFill>
                  <a:srgbClr val="C8302F"/>
                </a:solidFill>
                <a:latin typeface="Calibri"/>
              </a:defRPr>
            </a:pPr>
            <a:r>
              <a:t>−0.187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66760" y="1737360"/>
            <a:ext cx="3474719" cy="4389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  <a:defRPr sz="1500" b="0">
                <a:solidFill>
                  <a:srgbClr val="333333"/>
                </a:solidFill>
                <a:latin typeface="Calibri"/>
              </a:defRPr>
            </a:pPr>
            <a:r>
              <a:t>grade-level decline</a:t>
            </a:r>
          </a:p>
          <a:p>
            <a:pPr algn="l">
              <a:spcAft>
                <a:spcPts val="600"/>
              </a:spcAft>
              <a:defRPr sz="1500" b="0">
                <a:solidFill>
                  <a:srgbClr val="333333"/>
                </a:solidFill>
                <a:latin typeface="Calibri"/>
              </a:defRPr>
            </a:pPr>
          </a:p>
          <a:p>
            <a:pPr algn="l">
              <a:spcAft>
                <a:spcPts val="600"/>
              </a:spcAft>
              <a:defRPr sz="1500" b="0">
                <a:solidFill>
                  <a:srgbClr val="333333"/>
                </a:solidFill>
                <a:latin typeface="Calibri"/>
              </a:defRPr>
            </a:pPr>
            <a:r>
              <a:t>Rank 104 of 296</a:t>
            </a:r>
          </a:p>
          <a:p>
            <a:pPr algn="l">
              <a:spcAft>
                <a:spcPts val="600"/>
              </a:spcAft>
              <a:defRPr sz="1500" b="0">
                <a:solidFill>
                  <a:srgbClr val="333333"/>
                </a:solidFill>
                <a:latin typeface="Calibri"/>
              </a:defRPr>
            </a:pPr>
            <a:r>
              <a:t>(35th percentile)</a:t>
            </a:r>
          </a:p>
          <a:p>
            <a:pPr algn="l">
              <a:spcAft>
                <a:spcPts val="600"/>
              </a:spcAft>
              <a:defRPr sz="1500" b="0">
                <a:solidFill>
                  <a:srgbClr val="333333"/>
                </a:solidFill>
                <a:latin typeface="Calibri"/>
              </a:defRPr>
            </a:pPr>
          </a:p>
          <a:p>
            <a:pPr algn="l">
              <a:spcAft>
                <a:spcPts val="600"/>
              </a:spcAft>
              <a:defRPr sz="1500" b="0">
                <a:solidFill>
                  <a:srgbClr val="333333"/>
                </a:solidFill>
                <a:latin typeface="Calibri"/>
              </a:defRPr>
            </a:pPr>
            <a:r>
              <a:t>3rd worst among 8 MI peers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ED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FFFFF"/>
                </a:solidFill>
                <a:latin typeface="Calibri"/>
              </a:defRPr>
            </a:pPr>
            <a:r>
              <a:t>The Critical Test: Recovery During the IM Window (2022–23 → 2024–25)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75488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A0B4CC"/>
                </a:solidFill>
                <a:latin typeface="Calibri"/>
              </a:defRPr>
            </a:pPr>
            <a:r>
              <a:t>If IM were working, Troy should show stronger-than-peer recovery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38544"/>
            <a:ext cx="82296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Calibri"/>
              </a:defRPr>
            </a:pPr>
            <a:r>
              <a:t>Troy SD G6-G7 Math — Executive Summary • github.com/akarpo/tsd-g6g7math-choice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638544"/>
            <a:ext cx="13716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FFFFFF"/>
                </a:solidFill>
                <a:latin typeface="Calibri"/>
              </a:defRPr>
            </a:pPr>
            <a:r>
              <a:t>8 / 22</a:t>
            </a:r>
          </a:p>
        </p:txBody>
      </p:sp>
      <p:pic>
        <p:nvPicPr>
          <p:cNvPr id="8" name="Picture 7" descr="chart04_level_matched_histo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914400"/>
            <a:ext cx="7863840" cy="539496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8229600" y="914400"/>
            <a:ext cx="3749039" cy="5394960"/>
          </a:xfrm>
          <a:prstGeom prst="rect">
            <a:avLst/>
          </a:prstGeom>
          <a:solidFill>
            <a:srgbClr val="FBE7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66760" y="1051560"/>
            <a:ext cx="347471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800" b="1">
                <a:solidFill>
                  <a:srgbClr val="C8302F"/>
                </a:solidFill>
                <a:latin typeface="Calibri"/>
              </a:defRPr>
            </a:pPr>
            <a:r>
              <a:t>Rank 197 / 295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66760" y="1554480"/>
            <a:ext cx="347471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800" b="1">
                <a:solidFill>
                  <a:srgbClr val="C8302F"/>
                </a:solidFill>
                <a:latin typeface="Calibri"/>
              </a:defRPr>
            </a:pPr>
            <a:r>
              <a:t>bottom third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66760" y="2148840"/>
            <a:ext cx="3474719" cy="3931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  <a:defRPr sz="1500" b="0">
                <a:solidFill>
                  <a:srgbClr val="333333"/>
                </a:solidFill>
                <a:latin typeface="Calibri"/>
              </a:defRPr>
            </a:pPr>
            <a:r>
              <a:t>Troy: +0.024</a:t>
            </a:r>
          </a:p>
          <a:p>
            <a:pPr algn="l">
              <a:spcAft>
                <a:spcPts val="600"/>
              </a:spcAft>
              <a:defRPr sz="1500" b="0">
                <a:solidFill>
                  <a:srgbClr val="333333"/>
                </a:solidFill>
                <a:latin typeface="Calibri"/>
              </a:defRPr>
            </a:pPr>
            <a:r>
              <a:t>Peer median: +0.058</a:t>
            </a:r>
          </a:p>
          <a:p>
            <a:pPr algn="l">
              <a:spcAft>
                <a:spcPts val="600"/>
              </a:spcAft>
              <a:defRPr sz="1500" b="0">
                <a:solidFill>
                  <a:srgbClr val="333333"/>
                </a:solidFill>
                <a:latin typeface="Calibri"/>
              </a:defRPr>
            </a:pPr>
          </a:p>
          <a:p>
            <a:pPr algn="l">
              <a:spcAft>
                <a:spcPts val="600"/>
              </a:spcAft>
              <a:defRPr sz="1500" b="0">
                <a:solidFill>
                  <a:srgbClr val="333333"/>
                </a:solidFill>
                <a:latin typeface="Calibri"/>
              </a:defRPr>
            </a:pPr>
            <a:r>
              <a:t>Most peers recovered 2–3× more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ED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FFFFF"/>
                </a:solidFill>
                <a:latin typeface="Calibri"/>
              </a:defRPr>
            </a:pPr>
            <a:r>
              <a:t>Among MI Peers, Troy Ranks 6th of 8 in Recovery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75488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A0B4CC"/>
                </a:solidFill>
                <a:latin typeface="Calibri"/>
              </a:defRPr>
            </a:pPr>
            <a:r>
              <a:t>Birmingham (tracked) recovered 9× more than Troy (IM + detracked)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38544"/>
            <a:ext cx="82296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Calibri"/>
              </a:defRPr>
            </a:pPr>
            <a:r>
              <a:t>Troy SD G6-G7 Math — Executive Summary • github.com/akarpo/tsd-g6g7math-choice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638544"/>
            <a:ext cx="13716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FFFFFF"/>
                </a:solidFill>
                <a:latin typeface="Calibri"/>
              </a:defRPr>
            </a:pPr>
            <a:r>
              <a:t>9 / 22</a:t>
            </a:r>
          </a:p>
        </p:txBody>
      </p:sp>
      <p:pic>
        <p:nvPicPr>
          <p:cNvPr id="8" name="Picture 7" descr="chart03_im_window_rank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914400"/>
            <a:ext cx="6400800" cy="539496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858000" y="914400"/>
            <a:ext cx="5029200" cy="539496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95160" y="10515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1F3A5F"/>
                </a:solidFill>
                <a:latin typeface="Calibri"/>
              </a:defRPr>
            </a:pPr>
            <a:r>
              <a:t>IM-Window Recovery Ranking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86600" y="1563624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1F7A3D"/>
                </a:solidFill>
                <a:latin typeface="Calibri"/>
              </a:defRPr>
            </a:pPr>
            <a:r>
              <a:t>Birmingham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6840" y="1563624"/>
            <a:ext cx="1005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1F7A3D"/>
                </a:solidFill>
                <a:latin typeface="Calibri"/>
              </a:defRPr>
            </a:pPr>
            <a:r>
              <a:t>+0.211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04120" y="1563624"/>
            <a:ext cx="1645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0">
                <a:solidFill>
                  <a:srgbClr val="777777"/>
                </a:solidFill>
                <a:latin typeface="Calibri"/>
              </a:defRPr>
            </a:pPr>
            <a:r>
              <a:t>(tracked)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86600" y="2075688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1F7A3D"/>
                </a:solidFill>
                <a:latin typeface="Calibri"/>
              </a:defRPr>
            </a:pPr>
            <a:r>
              <a:t>Northville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06840" y="2075688"/>
            <a:ext cx="1005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1F7A3D"/>
                </a:solidFill>
                <a:latin typeface="Calibri"/>
              </a:defRPr>
            </a:pPr>
            <a:r>
              <a:t>+0.102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04120" y="2075688"/>
            <a:ext cx="1645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0">
                <a:solidFill>
                  <a:srgbClr val="777777"/>
                </a:solidFill>
                <a:latin typeface="Calibri"/>
              </a:defRPr>
            </a:pPr>
            <a:r>
              <a:t>(tracked)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86600" y="2587752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1F7A3D"/>
                </a:solidFill>
                <a:latin typeface="Calibri"/>
              </a:defRPr>
            </a:pPr>
            <a:r>
              <a:t>Bloomfield Hills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06840" y="2587752"/>
            <a:ext cx="1005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1F7A3D"/>
                </a:solidFill>
                <a:latin typeface="Calibri"/>
              </a:defRPr>
            </a:pPr>
            <a:r>
              <a:t>+0.082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04120" y="2587752"/>
            <a:ext cx="1645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0">
                <a:solidFill>
                  <a:srgbClr val="777777"/>
                </a:solidFill>
                <a:latin typeface="Calibri"/>
              </a:defRPr>
            </a:pPr>
            <a:r>
              <a:t>(tracked)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600" y="3099816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Walled Lake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06840" y="3099816"/>
            <a:ext cx="1005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333333"/>
                </a:solidFill>
                <a:latin typeface="Calibri"/>
              </a:defRPr>
            </a:pPr>
            <a:r>
              <a:t>+0.056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86600" y="3611880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Novi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06840" y="3611880"/>
            <a:ext cx="1005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333333"/>
                </a:solidFill>
                <a:latin typeface="Calibri"/>
              </a:defRPr>
            </a:pPr>
            <a:r>
              <a:t>+0.029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995160" y="4050792"/>
            <a:ext cx="4754880" cy="512064"/>
          </a:xfrm>
          <a:prstGeom prst="rect">
            <a:avLst/>
          </a:prstGeom>
          <a:solidFill>
            <a:srgbClr val="FBE7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086600" y="4123944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C8302F"/>
                </a:solidFill>
                <a:latin typeface="Calibri"/>
              </a:defRPr>
            </a:pPr>
            <a:r>
              <a:t>Troy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06840" y="4123944"/>
            <a:ext cx="1005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C8302F"/>
                </a:solidFill>
                <a:latin typeface="Calibri"/>
              </a:defRPr>
            </a:pPr>
            <a:r>
              <a:t>+0.024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04120" y="4123944"/>
            <a:ext cx="1645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0">
                <a:solidFill>
                  <a:srgbClr val="777777"/>
                </a:solidFill>
                <a:latin typeface="Calibri"/>
              </a:defRPr>
            </a:pPr>
            <a:r>
              <a:t>(IM+detracked)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86600" y="4636008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Rochester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06840" y="4636008"/>
            <a:ext cx="1005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333333"/>
                </a:solidFill>
                <a:latin typeface="Calibri"/>
              </a:defRPr>
            </a:pPr>
            <a:r>
              <a:t>+0.000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600" y="5148072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West Bloomfield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06840" y="5148072"/>
            <a:ext cx="1005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333333"/>
                </a:solidFill>
                <a:latin typeface="Calibri"/>
              </a:defRPr>
            </a:pPr>
            <a:r>
              <a:t>+0.006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ED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FFFFF"/>
                </a:solidFill>
                <a:latin typeface="Calibri"/>
              </a:defRPr>
            </a:pPr>
            <a:r>
              <a:t>G7 Math: The Tracked-vs-IM Comparison Year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75488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A0B4CC"/>
                </a:solidFill>
                <a:latin typeface="Calibri"/>
              </a:defRPr>
            </a:pPr>
            <a:r>
              <a:t>2023-24: G7 tracked. 2024-25: First G7 IM cohort — recovery stalled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38544"/>
            <a:ext cx="82296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Calibri"/>
              </a:defRPr>
            </a:pPr>
            <a:r>
              <a:t>Troy SD G6-G7 Math — Executive Summary • github.com/akarpo/tsd-g6g7math-choice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638544"/>
            <a:ext cx="13716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FFFFFF"/>
                </a:solidFill>
                <a:latin typeface="Calibri"/>
              </a:defRPr>
            </a:pPr>
            <a:r>
              <a:t>10 / 22</a:t>
            </a:r>
          </a:p>
        </p:txBody>
      </p:sp>
      <p:pic>
        <p:nvPicPr>
          <p:cNvPr id="8" name="Picture 7" descr="chart02_mi_peers_g7_tr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914400"/>
            <a:ext cx="7863840" cy="539496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8229600" y="914400"/>
            <a:ext cx="3749039" cy="2331720"/>
          </a:xfrm>
          <a:prstGeom prst="rect">
            <a:avLst/>
          </a:prstGeom>
          <a:solidFill>
            <a:srgbClr val="E8F5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66760" y="1051560"/>
            <a:ext cx="3474719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1F7A3D"/>
                </a:solidFill>
                <a:latin typeface="Calibri"/>
              </a:defRPr>
            </a:pPr>
            <a:r>
              <a:t>2023-24: G7 still tracked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66760" y="1463040"/>
            <a:ext cx="3474719" cy="160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Calibri"/>
              </a:defRPr>
            </a:pPr>
            <a:r>
              <a:t>Troy matched peers when G7 still used the tracked curriculum with Big Ideas Math and honors pathways.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0" y="3383280"/>
            <a:ext cx="3749039" cy="2560320"/>
          </a:xfrm>
          <a:prstGeom prst="rect">
            <a:avLst/>
          </a:prstGeom>
          <a:solidFill>
            <a:srgbClr val="FBE7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66760" y="3520440"/>
            <a:ext cx="3474719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C8302F"/>
                </a:solidFill>
                <a:latin typeface="Calibri"/>
              </a:defRPr>
            </a:pPr>
            <a:r>
              <a:t>2024-25: First G7 IM cohort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3931920"/>
            <a:ext cx="3474719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Calibri"/>
              </a:defRPr>
            </a:pPr>
            <a:r>
              <a:t>Recovery stalled. The first cohort to experience IM in both G6 and G7 shows no additional gains over the prior tracked year.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ED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FFFFF"/>
                </a:solidFill>
                <a:latin typeface="Calibri"/>
              </a:defRPr>
            </a:pPr>
            <a:r>
              <a:t>The Asian Subgroup Crisis — 36% of Troy’s Enrollment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75488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A0B4CC"/>
                </a:solidFill>
                <a:latin typeface="Calibri"/>
              </a:defRPr>
            </a:pPr>
            <a:r>
              <a:t>Troy’s historically strongest demographic shows the sharpest decline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38544"/>
            <a:ext cx="82296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Calibri"/>
              </a:defRPr>
            </a:pPr>
            <a:r>
              <a:t>Troy SD G6-G7 Math — Executive Summary • github.com/akarpo/tsd-g6g7math-choice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638544"/>
            <a:ext cx="13716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FFFFFF"/>
                </a:solidFill>
                <a:latin typeface="Calibri"/>
              </a:defRPr>
            </a:pPr>
            <a:r>
              <a:t>11 / 22</a:t>
            </a:r>
          </a:p>
        </p:txBody>
      </p:sp>
      <p:pic>
        <p:nvPicPr>
          <p:cNvPr id="8" name="Picture 7" descr="chart05_asian_g6_tr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914400"/>
            <a:ext cx="7863840" cy="539496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8229600" y="914400"/>
            <a:ext cx="3749039" cy="5394960"/>
          </a:xfrm>
          <a:prstGeom prst="rect">
            <a:avLst/>
          </a:prstGeom>
          <a:solidFill>
            <a:srgbClr val="FBE7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66760" y="1051560"/>
            <a:ext cx="3474719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333333"/>
                </a:solidFill>
                <a:latin typeface="Calibri"/>
              </a:defRPr>
            </a:pPr>
            <a:r>
              <a:t>G6 Asian Δ COVID: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66760" y="1417320"/>
            <a:ext cx="3474719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>
                <a:solidFill>
                  <a:srgbClr val="C8302F"/>
                </a:solidFill>
                <a:latin typeface="Calibri"/>
              </a:defRPr>
            </a:pPr>
            <a:r>
              <a:t>−0.409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66760" y="2514600"/>
            <a:ext cx="3474719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333333"/>
                </a:solidFill>
                <a:latin typeface="Calibri"/>
              </a:defRPr>
            </a:pPr>
            <a:r>
              <a:t>G7 Asian Δ COVID: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66760" y="2880360"/>
            <a:ext cx="3474719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>
                <a:solidFill>
                  <a:srgbClr val="C8302F"/>
                </a:solidFill>
                <a:latin typeface="Calibri"/>
              </a:defRPr>
            </a:pPr>
            <a:r>
              <a:t>−0.278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3977640"/>
            <a:ext cx="3474719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333333"/>
                </a:solidFill>
                <a:latin typeface="Calibri"/>
              </a:defRPr>
            </a:pPr>
            <a:r>
              <a:t>G7 Asian IM-window: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6760" y="4343400"/>
            <a:ext cx="3474719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>
                <a:solidFill>
                  <a:srgbClr val="C8302F"/>
                </a:solidFill>
                <a:latin typeface="Calibri"/>
              </a:defRPr>
            </a:pPr>
            <a:r>
              <a:t>−0.094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66760" y="4937760"/>
            <a:ext cx="3474719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C8302F"/>
                </a:solidFill>
                <a:latin typeface="Calibri"/>
              </a:defRPr>
            </a:pPr>
            <a:r>
              <a:t>(still declining)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ED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FFFFF"/>
                </a:solidFill>
                <a:latin typeface="Calibri"/>
              </a:defRPr>
            </a:pPr>
            <a:r>
              <a:t>G7 Asian Math Is Still Declining Under IM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75488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A0B4CC"/>
                </a:solidFill>
                <a:latin typeface="Calibri"/>
              </a:defRPr>
            </a:pPr>
            <a:r>
              <a:t>High-Asian peers with tracking show robust recovery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38544"/>
            <a:ext cx="82296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Calibri"/>
              </a:defRPr>
            </a:pPr>
            <a:r>
              <a:t>Troy SD G6-G7 Math — Executive Summary • github.com/akarpo/tsd-g6g7math-choice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638544"/>
            <a:ext cx="13716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FFFFFF"/>
                </a:solidFill>
                <a:latin typeface="Calibri"/>
              </a:defRPr>
            </a:pPr>
            <a:r>
              <a:t>12 / 22</a:t>
            </a:r>
          </a:p>
        </p:txBody>
      </p:sp>
      <p:pic>
        <p:nvPicPr>
          <p:cNvPr id="8" name="Picture 7" descr="chart06_asian_g7_tr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914400"/>
            <a:ext cx="7863840" cy="539496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8229600" y="914400"/>
            <a:ext cx="3749039" cy="1417320"/>
          </a:xfrm>
          <a:prstGeom prst="rect">
            <a:avLst/>
          </a:prstGeom>
          <a:solidFill>
            <a:srgbClr val="E8F5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66760" y="1051560"/>
            <a:ext cx="3474719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333333"/>
                </a:solidFill>
                <a:latin typeface="Calibri"/>
              </a:defRPr>
            </a:pPr>
            <a:r>
              <a:t>Bellevue (WA)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66760" y="1463040"/>
            <a:ext cx="347471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>
                <a:solidFill>
                  <a:srgbClr val="1F7A3D"/>
                </a:solidFill>
                <a:latin typeface="Calibri"/>
              </a:defRPr>
            </a:pPr>
            <a:r>
              <a:t>+0.162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0" y="2468880"/>
            <a:ext cx="3749039" cy="1417320"/>
          </a:xfrm>
          <a:prstGeom prst="rect">
            <a:avLst/>
          </a:prstGeom>
          <a:solidFill>
            <a:srgbClr val="E8F5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66760" y="2606040"/>
            <a:ext cx="3474719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333333"/>
                </a:solidFill>
                <a:latin typeface="Calibri"/>
              </a:defRPr>
            </a:pPr>
            <a:r>
              <a:t>Issaquah (WA)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3017520"/>
            <a:ext cx="347471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>
                <a:solidFill>
                  <a:srgbClr val="1F7A3D"/>
                </a:solidFill>
                <a:latin typeface="Calibri"/>
              </a:defRPr>
            </a:pPr>
            <a:r>
              <a:t>+0.218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0" y="4023360"/>
            <a:ext cx="3749039" cy="1417320"/>
          </a:xfrm>
          <a:prstGeom prst="rect">
            <a:avLst/>
          </a:prstGeom>
          <a:solidFill>
            <a:srgbClr val="FBE7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66760" y="4160520"/>
            <a:ext cx="3474719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333333"/>
                </a:solidFill>
                <a:latin typeface="Calibri"/>
              </a:defRPr>
            </a:pPr>
            <a:r>
              <a:t>Troy (MI)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60" y="4572000"/>
            <a:ext cx="347471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>
                <a:solidFill>
                  <a:srgbClr val="C8302F"/>
                </a:solidFill>
                <a:latin typeface="Calibri"/>
              </a:defRPr>
            </a:pPr>
            <a:r>
              <a:t>−0.094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ED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FFFFF"/>
                </a:solidFill>
                <a:latin typeface="Calibri"/>
              </a:defRPr>
            </a:pPr>
            <a:r>
              <a:t>Every Subgroup Declined — But Recovery Is Uneven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75488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A0B4CC"/>
                </a:solidFill>
                <a:latin typeface="Calibri"/>
              </a:defRPr>
            </a:pPr>
            <a:r>
              <a:t>Asian and White subgroups show largest absolute declines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38544"/>
            <a:ext cx="82296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Calibri"/>
              </a:defRPr>
            </a:pPr>
            <a:r>
              <a:t>Troy SD G6-G7 Math — Executive Summary • github.com/akarpo/tsd-g6g7math-choice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638544"/>
            <a:ext cx="13716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FFFFFF"/>
                </a:solidFill>
                <a:latin typeface="Calibri"/>
              </a:defRPr>
            </a:pPr>
            <a:r>
              <a:t>13 / 22</a:t>
            </a:r>
          </a:p>
        </p:txBody>
      </p:sp>
      <p:pic>
        <p:nvPicPr>
          <p:cNvPr id="8" name="Picture 7" descr="chart07_troy_subgroup_waterf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914400"/>
            <a:ext cx="7863840" cy="539496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8229600" y="914400"/>
            <a:ext cx="3749039" cy="539496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66760" y="1051560"/>
            <a:ext cx="347471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1F3A5F"/>
                </a:solidFill>
                <a:latin typeface="Calibri"/>
              </a:defRPr>
            </a:pPr>
            <a:r>
              <a:t>Key Findings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66760" y="1508760"/>
            <a:ext cx="3474719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Asian and White subgroups show the largest absolute declines from pre-COVID levels.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</a:p>
          <a:p>
            <a:pPr algn="l">
              <a:spcAft>
                <a:spcPts val="4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Economically disadvantaged students were already near the national average — the gap between ECD and non-ECD has not narrowed.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</a:p>
          <a:p>
            <a:pPr algn="l">
              <a:spcAft>
                <a:spcPts val="4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No subgroup has returned to pre-COVID performance under IM + detracking.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</a:p>
          <a:p>
            <a:pPr algn="l">
              <a:spcAft>
                <a:spcPts val="4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The “rising tide lifts all boats” promise of detracking has not materialised for any demographic group in Troy.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ED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FFFFF"/>
                </a:solidFill>
                <a:latin typeface="Calibri"/>
              </a:defRPr>
            </a:pPr>
            <a:r>
              <a:t>M-STEP Math Proficiency: The Numbers Parents See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75488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A0B4CC"/>
                </a:solidFill>
                <a:latin typeface="Calibri"/>
              </a:defRPr>
            </a:pPr>
            <a:r>
              <a:t>Michigan M-STEP % proficient or advanced, grades 6 and 7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38544"/>
            <a:ext cx="82296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Calibri"/>
              </a:defRPr>
            </a:pPr>
            <a:r>
              <a:t>Troy SD G6-G7 Math — Executive Summary • github.com/akarpo/tsd-g6g7math-choice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638544"/>
            <a:ext cx="13716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FFFFFF"/>
                </a:solidFill>
                <a:latin typeface="Calibri"/>
              </a:defRPr>
            </a:pPr>
            <a:r>
              <a:t>14 / 22</a:t>
            </a:r>
          </a:p>
        </p:txBody>
      </p:sp>
      <p:pic>
        <p:nvPicPr>
          <p:cNvPr id="8" name="Picture 7" descr="chart08_mstep_troy_proficien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914400"/>
            <a:ext cx="7863840" cy="539496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8229600" y="914400"/>
            <a:ext cx="3749039" cy="539496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66760" y="1051560"/>
            <a:ext cx="347471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1">
                <a:solidFill>
                  <a:srgbClr val="1F3A5F"/>
                </a:solidFill>
                <a:latin typeface="Calibri"/>
              </a:defRPr>
            </a:pPr>
            <a:r>
              <a:t>% Proficient or Advanced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366760" y="1554480"/>
            <a:ext cx="3474719" cy="347472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39912" y="1591056"/>
            <a:ext cx="5486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Grade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6840" y="1591056"/>
            <a:ext cx="7772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2021-22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84080" y="1591056"/>
            <a:ext cx="7772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2022-23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61320" y="1591056"/>
            <a:ext cx="7772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2023-24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1591056"/>
            <a:ext cx="7772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2024-25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366760" y="1901952"/>
            <a:ext cx="3474719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39912" y="1938528"/>
            <a:ext cx="5486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1">
                <a:solidFill>
                  <a:srgbClr val="333333"/>
                </a:solidFill>
                <a:latin typeface="Calibri"/>
              </a:defRPr>
            </a:pPr>
            <a:r>
              <a:t>G6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06840" y="1938528"/>
            <a:ext cx="7772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71.4%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84080" y="1938528"/>
            <a:ext cx="7772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63.2%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61320" y="1938528"/>
            <a:ext cx="7772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66.3%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0" y="1938528"/>
            <a:ext cx="7772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65.8%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366760" y="2249424"/>
            <a:ext cx="3474719" cy="347472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39912" y="2286000"/>
            <a:ext cx="5486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1">
                <a:solidFill>
                  <a:srgbClr val="333333"/>
                </a:solidFill>
                <a:latin typeface="Calibri"/>
              </a:defRPr>
            </a:pPr>
            <a:r>
              <a:t>G7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06840" y="2286000"/>
            <a:ext cx="7772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67.5%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84080" y="2286000"/>
            <a:ext cx="7772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61.3%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61320" y="2286000"/>
            <a:ext cx="7772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66.0%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338560" y="2286000"/>
            <a:ext cx="7772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TBD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366760" y="2871216"/>
            <a:ext cx="3474719" cy="1097280"/>
          </a:xfrm>
          <a:prstGeom prst="rect">
            <a:avLst/>
          </a:prstGeom>
          <a:solidFill>
            <a:srgbClr val="FBE7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366760" y="2871216"/>
            <a:ext cx="3474719" cy="36576"/>
          </a:xfrm>
          <a:prstGeom prst="rect">
            <a:avLst/>
          </a:prstGeom>
          <a:solidFill>
            <a:srgbClr val="C83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58200" y="3008376"/>
            <a:ext cx="3291839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C8302F"/>
                </a:solidFill>
                <a:latin typeface="Calibri"/>
              </a:defRPr>
            </a:pPr>
            <a:r>
              <a:t>IM has not restored Troy to pre-COVID proficiency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ED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FFFFF"/>
                </a:solidFill>
                <a:latin typeface="Calibri"/>
              </a:defRPr>
            </a:pPr>
            <a:r>
              <a:t>San Francisco: 12 Years of Detracking, Then Reversal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75488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A0B4CC"/>
                </a:solidFill>
                <a:latin typeface="Calibri"/>
              </a:defRPr>
            </a:pPr>
            <a:r>
              <a:t>SFUSD eliminated Algebra 1 in 8th grade in 2014 — reversed March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38544"/>
            <a:ext cx="82296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Calibri"/>
              </a:defRPr>
            </a:pPr>
            <a:r>
              <a:t>Troy SD G6-G7 Math — Executive Summary • github.com/akarpo/tsd-g6g7math-choice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638544"/>
            <a:ext cx="13716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FFFFFF"/>
                </a:solidFill>
                <a:latin typeface="Calibri"/>
              </a:defRPr>
            </a:pPr>
            <a:r>
              <a:t>15 / 22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051560"/>
            <a:ext cx="11430000" cy="1280160"/>
          </a:xfrm>
          <a:prstGeom prst="rect">
            <a:avLst/>
          </a:prstGeom>
          <a:solidFill>
            <a:srgbClr val="FBE7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051560"/>
            <a:ext cx="11430000" cy="36576"/>
          </a:xfrm>
          <a:prstGeom prst="rect">
            <a:avLst/>
          </a:prstGeom>
          <a:solidFill>
            <a:srgbClr val="C83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1371600"/>
            <a:ext cx="411480" cy="411480"/>
          </a:xfrm>
          <a:prstGeom prst="rect">
            <a:avLst/>
          </a:prstGeom>
          <a:solidFill>
            <a:srgbClr val="C83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371600"/>
            <a:ext cx="4114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1234440"/>
            <a:ext cx="103327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  <a:latin typeface="Calibri"/>
              </a:defRPr>
            </a:pPr>
            <a:r>
              <a:t>Achievement gaps WIDENED: Hispanic-White gap expanded 31 points (vs 5 statewide)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468879"/>
            <a:ext cx="11430000" cy="1280160"/>
          </a:xfrm>
          <a:prstGeom prst="rect">
            <a:avLst/>
          </a:prstGeom>
          <a:solidFill>
            <a:srgbClr val="FFF4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65760" y="2468879"/>
            <a:ext cx="11430000" cy="36576"/>
          </a:xfrm>
          <a:prstGeom prst="rect">
            <a:avLst/>
          </a:prstGeom>
          <a:solidFill>
            <a:srgbClr val="B779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88919"/>
            <a:ext cx="411480" cy="411480"/>
          </a:xfrm>
          <a:prstGeom prst="rect">
            <a:avLst/>
          </a:prstGeom>
          <a:solidFill>
            <a:srgbClr val="B779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2788919"/>
            <a:ext cx="4114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2651759"/>
            <a:ext cx="103327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  <a:latin typeface="Calibri"/>
              </a:defRPr>
            </a:pPr>
            <a:r>
              <a:t>AP math enrollment DECLINED 15%, driven by Asian/Pacific Islander students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886199"/>
            <a:ext cx="11430000" cy="1280160"/>
          </a:xfrm>
          <a:prstGeom prst="rect">
            <a:avLst/>
          </a:prstGeom>
          <a:solidFill>
            <a:srgbClr val="FBE7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65760" y="3886199"/>
            <a:ext cx="11430000" cy="36576"/>
          </a:xfrm>
          <a:prstGeom prst="rect">
            <a:avLst/>
          </a:prstGeom>
          <a:solidFill>
            <a:srgbClr val="C83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4206239"/>
            <a:ext cx="411480" cy="411480"/>
          </a:xfrm>
          <a:prstGeom prst="rect">
            <a:avLst/>
          </a:prstGeom>
          <a:solidFill>
            <a:srgbClr val="C83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4206239"/>
            <a:ext cx="4114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4440" y="4069079"/>
            <a:ext cx="103327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  <a:latin typeface="Calibri"/>
              </a:defRPr>
            </a:pPr>
            <a:r>
              <a:t>Board voted March 2026 to RESTORE Algebra 1 in 8th grade at all schools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5440679"/>
            <a:ext cx="11430000" cy="73152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5532119"/>
            <a:ext cx="109728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Troy is replicating a strategy with a well-documented failure pattern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ED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FFFFF"/>
                </a:solidFill>
                <a:latin typeface="Calibri"/>
              </a:defRPr>
            </a:pPr>
            <a:r>
              <a:t>Cambridge, MA: Detracked 2017–2019, Now Reversing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75488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A0B4CC"/>
                </a:solidFill>
                <a:latin typeface="Calibri"/>
              </a:defRPr>
            </a:pPr>
            <a:r>
              <a:t>A second major detracking experiment now being reversed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38544"/>
            <a:ext cx="82296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Calibri"/>
              </a:defRPr>
            </a:pPr>
            <a:r>
              <a:t>Troy SD G6-G7 Math — Executive Summary • github.com/akarpo/tsd-g6g7math-choice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638544"/>
            <a:ext cx="13716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FFFFFF"/>
                </a:solidFill>
                <a:latin typeface="Calibri"/>
              </a:defRPr>
            </a:pPr>
            <a:r>
              <a:t>16 / 22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005840"/>
            <a:ext cx="5577840" cy="5029200"/>
          </a:xfrm>
          <a:prstGeom prst="rect">
            <a:avLst/>
          </a:prstGeom>
          <a:solidFill>
            <a:srgbClr val="FFF4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143000"/>
            <a:ext cx="5303520" cy="411480"/>
          </a:xfrm>
          <a:prstGeom prst="rect">
            <a:avLst/>
          </a:prstGeom>
          <a:solidFill>
            <a:srgbClr val="B779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18872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What They Did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737360"/>
            <a:ext cx="530352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500" b="0">
                <a:solidFill>
                  <a:srgbClr val="333333"/>
                </a:solidFill>
                <a:latin typeface="Calibri"/>
              </a:defRPr>
            </a:pPr>
            <a:r>
              <a:t>Eliminated accelerated math tracks across all middle schools between 2017 and 2019.</a:t>
            </a:r>
          </a:p>
          <a:p>
            <a:pPr algn="l">
              <a:spcAft>
                <a:spcPts val="400"/>
              </a:spcAft>
              <a:defRPr sz="1500" b="0">
                <a:solidFill>
                  <a:srgbClr val="333333"/>
                </a:solidFill>
                <a:latin typeface="Calibri"/>
              </a:defRPr>
            </a:pPr>
          </a:p>
          <a:p>
            <a:pPr algn="l">
              <a:spcAft>
                <a:spcPts val="400"/>
              </a:spcAft>
              <a:defRPr sz="1500" b="0">
                <a:solidFill>
                  <a:srgbClr val="333333"/>
                </a:solidFill>
                <a:latin typeface="Calibri"/>
              </a:defRPr>
            </a:pPr>
            <a:r>
              <a:t>Goal: address racial disparities in advanced course enrollment by placing all students in the same heterogeneous math classes.</a:t>
            </a:r>
          </a:p>
          <a:p>
            <a:pPr algn="l">
              <a:spcAft>
                <a:spcPts val="400"/>
              </a:spcAft>
              <a:defRPr sz="1500" b="0">
                <a:solidFill>
                  <a:srgbClr val="333333"/>
                </a:solidFill>
                <a:latin typeface="Calibri"/>
              </a:defRPr>
            </a:pPr>
          </a:p>
          <a:p>
            <a:pPr algn="l">
              <a:spcAft>
                <a:spcPts val="400"/>
              </a:spcAft>
              <a:defRPr sz="1500" b="0">
                <a:solidFill>
                  <a:srgbClr val="333333"/>
                </a:solidFill>
                <a:latin typeface="Calibri"/>
              </a:defRPr>
            </a:pPr>
            <a:r>
              <a:t>Mirrored SFUSD’s rationale: equal access would close gaps.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005840"/>
            <a:ext cx="5577840" cy="5029200"/>
          </a:xfrm>
          <a:prstGeom prst="rect">
            <a:avLst/>
          </a:prstGeom>
          <a:solidFill>
            <a:srgbClr val="FBE7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143000"/>
            <a:ext cx="5303520" cy="411480"/>
          </a:xfrm>
          <a:prstGeom prst="rect">
            <a:avLst/>
          </a:prstGeom>
          <a:solidFill>
            <a:srgbClr val="C83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118872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What Happened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1737360"/>
            <a:ext cx="530352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500" b="0">
                <a:solidFill>
                  <a:srgbClr val="333333"/>
                </a:solidFill>
                <a:latin typeface="Calibri"/>
              </a:defRPr>
            </a:pPr>
            <a:r>
              <a:t>COVID obscured early results, but post-pandemic data showed persistent achievement gaps.</a:t>
            </a:r>
          </a:p>
          <a:p>
            <a:pPr algn="l">
              <a:spcAft>
                <a:spcPts val="400"/>
              </a:spcAft>
              <a:defRPr sz="1500" b="0">
                <a:solidFill>
                  <a:srgbClr val="333333"/>
                </a:solidFill>
                <a:latin typeface="Calibri"/>
              </a:defRPr>
            </a:pPr>
          </a:p>
          <a:p>
            <a:pPr algn="l">
              <a:spcAft>
                <a:spcPts val="400"/>
              </a:spcAft>
              <a:defRPr sz="1500" b="0">
                <a:solidFill>
                  <a:srgbClr val="333333"/>
                </a:solidFill>
                <a:latin typeface="Calibri"/>
              </a:defRPr>
            </a:pPr>
            <a:r>
              <a:t>District is now reversing course and restoring algebra pathways in 8th grade.</a:t>
            </a:r>
          </a:p>
          <a:p>
            <a:pPr algn="l">
              <a:spcAft>
                <a:spcPts val="400"/>
              </a:spcAft>
              <a:defRPr sz="1500" b="0">
                <a:solidFill>
                  <a:srgbClr val="333333"/>
                </a:solidFill>
                <a:latin typeface="Calibri"/>
              </a:defRPr>
            </a:pPr>
          </a:p>
          <a:p>
            <a:pPr algn="l">
              <a:spcAft>
                <a:spcPts val="400"/>
              </a:spcAft>
              <a:defRPr sz="1500" b="0">
                <a:solidFill>
                  <a:srgbClr val="333333"/>
                </a:solidFill>
                <a:latin typeface="Calibri"/>
              </a:defRPr>
            </a:pPr>
            <a:r>
              <a:t>Advanced students left for private schools or after-school tutoring — exacerbating the very inequities the policy aimed to fix.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ED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FFFFF"/>
                </a:solidFill>
                <a:latin typeface="Calibri"/>
              </a:defRPr>
            </a:pPr>
            <a:r>
              <a:t>The ‘50% Algebra 1’ Claim — Course Access ≠ Achievement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75488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A0B4CC"/>
                </a:solidFill>
                <a:latin typeface="Calibri"/>
              </a:defRPr>
            </a:pPr>
            <a:r>
              <a:t>Course enrollment is not an achievement metric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38544"/>
            <a:ext cx="82296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Calibri"/>
              </a:defRPr>
            </a:pPr>
            <a:r>
              <a:t>Troy SD G6-G7 Math — Executive Summary • github.com/akarpo/tsd-g6g7math-choice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638544"/>
            <a:ext cx="13716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FFFFFF"/>
                </a:solidFill>
                <a:latin typeface="Calibri"/>
              </a:defRPr>
            </a:pPr>
            <a:r>
              <a:t>17 / 22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051560"/>
            <a:ext cx="11430000" cy="1417320"/>
          </a:xfrm>
          <a:prstGeom prst="rect">
            <a:avLst/>
          </a:prstGeom>
          <a:solidFill>
            <a:srgbClr val="FFF4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051560"/>
            <a:ext cx="11430000" cy="36576"/>
          </a:xfrm>
          <a:prstGeom prst="rect">
            <a:avLst/>
          </a:prstGeom>
          <a:solidFill>
            <a:srgbClr val="B779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1417320"/>
            <a:ext cx="411480" cy="411480"/>
          </a:xfrm>
          <a:prstGeom prst="rect">
            <a:avLst/>
          </a:prstGeom>
          <a:solidFill>
            <a:srgbClr val="B779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417320"/>
            <a:ext cx="4114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1280160"/>
            <a:ext cx="1033272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  <a:latin typeface="Calibri"/>
              </a:defRPr>
            </a:pPr>
            <a:r>
              <a:t>SFUSD made the identical claim for a decade before test scores revealed no improvement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606040"/>
            <a:ext cx="11430000" cy="1417320"/>
          </a:xfrm>
          <a:prstGeom prst="rect">
            <a:avLst/>
          </a:prstGeom>
          <a:solidFill>
            <a:srgbClr val="FFF4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65760" y="2606040"/>
            <a:ext cx="11430000" cy="36576"/>
          </a:xfrm>
          <a:prstGeom prst="rect">
            <a:avLst/>
          </a:prstGeom>
          <a:solidFill>
            <a:srgbClr val="B779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971800"/>
            <a:ext cx="411480" cy="411480"/>
          </a:xfrm>
          <a:prstGeom prst="rect">
            <a:avLst/>
          </a:prstGeom>
          <a:solidFill>
            <a:srgbClr val="B779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2971800"/>
            <a:ext cx="4114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2834640"/>
            <a:ext cx="1033272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  <a:latin typeface="Calibri"/>
              </a:defRPr>
            </a:pPr>
            <a:r>
              <a:t>SEDA shows Troy’s G6+G7 math readiness dropped from +0.937 to +0.750 — a quarter-grade-level decline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4160520"/>
            <a:ext cx="11430000" cy="1417320"/>
          </a:xfrm>
          <a:prstGeom prst="rect">
            <a:avLst/>
          </a:prstGeom>
          <a:solidFill>
            <a:srgbClr val="FFF4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65760" y="4160520"/>
            <a:ext cx="11430000" cy="36576"/>
          </a:xfrm>
          <a:prstGeom prst="rect">
            <a:avLst/>
          </a:prstGeom>
          <a:solidFill>
            <a:srgbClr val="B779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4526280"/>
            <a:ext cx="411480" cy="411480"/>
          </a:xfrm>
          <a:prstGeom prst="rect">
            <a:avLst/>
          </a:prstGeom>
          <a:solidFill>
            <a:srgbClr val="B779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4526280"/>
            <a:ext cx="4114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4440" y="4389120"/>
            <a:ext cx="1033272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  <a:latin typeface="Calibri"/>
              </a:defRPr>
            </a:pPr>
            <a:r>
              <a:t>The comparison is not past Troy enrollment — it’s what tracked peers achieve now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ED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FFFFF"/>
                </a:solidFill>
                <a:latin typeface="Calibri"/>
              </a:defRPr>
            </a:pPr>
            <a:r>
              <a:t>What High-Performing Math Districts Do Differently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75488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A0B4CC"/>
                </a:solidFill>
                <a:latin typeface="Calibri"/>
              </a:defRPr>
            </a:pPr>
            <a:r>
              <a:t>Among 107 high-Asian (≥20%) peers, many recovered with tracking intact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38544"/>
            <a:ext cx="82296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Calibri"/>
              </a:defRPr>
            </a:pPr>
            <a:r>
              <a:t>Troy SD G6-G7 Math — Executive Summary • github.com/akarpo/tsd-g6g7math-choice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638544"/>
            <a:ext cx="13716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FFFFFF"/>
                </a:solidFill>
                <a:latin typeface="Calibri"/>
              </a:defRPr>
            </a:pPr>
            <a:r>
              <a:t>18 / 22</a:t>
            </a:r>
          </a:p>
        </p:txBody>
      </p:sp>
      <p:pic>
        <p:nvPicPr>
          <p:cNvPr id="8" name="Picture 7" descr="chart10_high_asian_peers_del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914400"/>
            <a:ext cx="7863840" cy="539496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8229600" y="914400"/>
            <a:ext cx="3749039" cy="5394960"/>
          </a:xfrm>
          <a:prstGeom prst="rect">
            <a:avLst/>
          </a:prstGeom>
          <a:solidFill>
            <a:srgbClr val="E8F5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66760" y="1051560"/>
            <a:ext cx="347471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1F7A3D"/>
                </a:solidFill>
                <a:latin typeface="Calibri"/>
              </a:defRPr>
            </a:pPr>
            <a:r>
              <a:t>Key Finding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66760" y="1508760"/>
            <a:ext cx="3474719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Among 107 high-Asian (≥20%) districts nationally, many California and New Jersey districts recovered to or surpassed pre-COVID levels.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</a:p>
          <a:p>
            <a:pPr algn="l">
              <a:spcAft>
                <a:spcPts val="4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These districts maintained tracking and traditional acceleration pathways.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</a:p>
          <a:p>
            <a:pPr algn="l">
              <a:spcAft>
                <a:spcPts val="4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Troy is an outlier among its demographic peers — one of the few to adopt detracking.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</a:p>
          <a:p>
            <a:pPr algn="l">
              <a:spcAft>
                <a:spcPts val="4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The data does not support the claim that detracking is necessary for equitable outcomes.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ED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FFFFF"/>
                </a:solidFill>
                <a:latin typeface="Calibri"/>
              </a:defRPr>
            </a:pPr>
            <a:r>
              <a:t>Illustrative Mathematics: Evidence Gaps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75488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A0B4CC"/>
                </a:solidFill>
                <a:latin typeface="Calibri"/>
              </a:defRPr>
            </a:pPr>
            <a:r>
              <a:t>No published evidence of IM success in a district like Troy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38544"/>
            <a:ext cx="82296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Calibri"/>
              </a:defRPr>
            </a:pPr>
            <a:r>
              <a:t>Troy SD G6-G7 Math — Executive Summary • github.com/akarpo/tsd-g6g7math-choice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638544"/>
            <a:ext cx="13716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FFFFFF"/>
                </a:solidFill>
                <a:latin typeface="Calibri"/>
              </a:defRPr>
            </a:pPr>
            <a:r>
              <a:t>19 / 22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051560"/>
            <a:ext cx="11430000" cy="4572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097280"/>
            <a:ext cx="3200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District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0" y="1097280"/>
            <a:ext cx="2743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Result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60" y="1097280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Comparability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1508760"/>
            <a:ext cx="11430000" cy="822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1645920"/>
            <a:ext cx="3200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333333"/>
                </a:solidFill>
                <a:latin typeface="Calibri"/>
              </a:defRPr>
            </a:pPr>
            <a:r>
              <a:t>NYC District 11 (Bronx)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0" y="1645920"/>
            <a:ext cx="2743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Calibri"/>
              </a:defRPr>
            </a:pPr>
            <a:r>
              <a:t>25.8% → 50.6%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66560" y="1645920"/>
            <a:ext cx="48463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777777"/>
                </a:solidFill>
                <a:latin typeface="Calibri"/>
              </a:defRPr>
            </a:pPr>
            <a:r>
              <a:t>High-poverty, low-baseline; not comparable to Troy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2377440"/>
            <a:ext cx="11430000" cy="82296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2514600"/>
            <a:ext cx="3200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333333"/>
                </a:solidFill>
                <a:latin typeface="Calibri"/>
              </a:defRPr>
            </a:pPr>
            <a:r>
              <a:t>Fort Zumwalt (MO)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40480" y="2514600"/>
            <a:ext cx="2743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Calibri"/>
              </a:defRPr>
            </a:pPr>
            <a:r>
              <a:t>Effect size 0.16 SD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66560" y="2514600"/>
            <a:ext cx="48463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777777"/>
                </a:solidFill>
                <a:latin typeface="Calibri"/>
              </a:defRPr>
            </a:pPr>
            <a:r>
              <a:t>Modest improvement; comparable to general instructional improvement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3246120"/>
            <a:ext cx="11430000" cy="822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3383280"/>
            <a:ext cx="3200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333333"/>
                </a:solidFill>
                <a:latin typeface="Calibri"/>
              </a:defRPr>
            </a:pPr>
            <a:r>
              <a:t>Philadelphia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40480" y="3383280"/>
            <a:ext cx="2743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Calibri"/>
              </a:defRPr>
            </a:pPr>
            <a:r>
              <a:t>Process study only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66560" y="3383280"/>
            <a:ext cx="48463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777777"/>
                </a:solidFill>
                <a:latin typeface="Calibri"/>
              </a:defRPr>
            </a:pPr>
            <a:r>
              <a:t>No student outcomes data published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4297679"/>
            <a:ext cx="11430000" cy="914400"/>
          </a:xfrm>
          <a:prstGeom prst="rect">
            <a:avLst/>
          </a:prstGeom>
          <a:solidFill>
            <a:srgbClr val="FFF4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65760" y="4297679"/>
            <a:ext cx="11430000" cy="36576"/>
          </a:xfrm>
          <a:prstGeom prst="rect">
            <a:avLst/>
          </a:prstGeom>
          <a:solidFill>
            <a:srgbClr val="B779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4434839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B7791F"/>
                </a:solidFill>
                <a:latin typeface="Calibri"/>
              </a:defRPr>
            </a:pPr>
            <a:r>
              <a:t>No published evidence of IM success in an affluent, high-performing, high-Asian district like Troy. The existing studies all involve high-poverty, low-baseline populations.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ED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FFFFF"/>
                </a:solidFill>
                <a:latin typeface="Calibri"/>
              </a:defRPr>
            </a:pPr>
            <a:r>
              <a:t>Conclusions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75488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A0B4CC"/>
                </a:solidFill>
                <a:latin typeface="Calibri"/>
              </a:defRPr>
            </a:pPr>
            <a:r>
              <a:t>Five findings from three independent lines of evidence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38544"/>
            <a:ext cx="82296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Calibri"/>
              </a:defRPr>
            </a:pPr>
            <a:r>
              <a:t>Troy SD G6-G7 Math — Executive Summary • github.com/akarpo/tsd-g6g7math-choice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638544"/>
            <a:ext cx="13716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FFFFFF"/>
                </a:solidFill>
                <a:latin typeface="Calibri"/>
              </a:defRPr>
            </a:pPr>
            <a:r>
              <a:t>20 / 22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51560"/>
            <a:ext cx="11247120" cy="960120"/>
          </a:xfrm>
          <a:prstGeom prst="rect">
            <a:avLst/>
          </a:prstGeom>
          <a:solidFill>
            <a:srgbClr val="FBE7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252728"/>
            <a:ext cx="457200" cy="457200"/>
          </a:xfrm>
          <a:prstGeom prst="rect">
            <a:avLst/>
          </a:prstGeom>
          <a:solidFill>
            <a:srgbClr val="C83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252728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051560"/>
            <a:ext cx="54864" cy="960120"/>
          </a:xfrm>
          <a:prstGeom prst="rect">
            <a:avLst/>
          </a:prstGeom>
          <a:solidFill>
            <a:srgbClr val="C83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80160" y="1143000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  <a:latin typeface="Calibri"/>
              </a:defRPr>
            </a:pPr>
            <a:r>
              <a:t>Troy has NOT outperformed — bottom third of 295 peers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121408"/>
            <a:ext cx="11247120" cy="960120"/>
          </a:xfrm>
          <a:prstGeom prst="rect">
            <a:avLst/>
          </a:prstGeom>
          <a:solidFill>
            <a:srgbClr val="FBE7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322576"/>
            <a:ext cx="457200" cy="457200"/>
          </a:xfrm>
          <a:prstGeom prst="rect">
            <a:avLst/>
          </a:prstGeom>
          <a:solidFill>
            <a:srgbClr val="C83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2322576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121408"/>
            <a:ext cx="54864" cy="960120"/>
          </a:xfrm>
          <a:prstGeom prst="rect">
            <a:avLst/>
          </a:prstGeom>
          <a:solidFill>
            <a:srgbClr val="C83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80160" y="2212848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  <a:latin typeface="Calibri"/>
              </a:defRPr>
            </a:pPr>
            <a:r>
              <a:t>Asian subgroup most concerning — G7 Asian STILL declining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191256"/>
            <a:ext cx="11247120" cy="960120"/>
          </a:xfrm>
          <a:prstGeom prst="rect">
            <a:avLst/>
          </a:prstGeom>
          <a:solidFill>
            <a:srgbClr val="FFF4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3392424"/>
            <a:ext cx="457200" cy="457200"/>
          </a:xfrm>
          <a:prstGeom prst="rect">
            <a:avLst/>
          </a:prstGeom>
          <a:solidFill>
            <a:srgbClr val="B779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3392424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3191256"/>
            <a:ext cx="54864" cy="960120"/>
          </a:xfrm>
          <a:prstGeom prst="rect">
            <a:avLst/>
          </a:prstGeom>
          <a:solidFill>
            <a:srgbClr val="B779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280160" y="3282696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  <a:latin typeface="Calibri"/>
              </a:defRPr>
            </a:pPr>
            <a:r>
              <a:t>Detracking evidence base against — SFUSD, Cambridge reversed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4261104"/>
            <a:ext cx="11247120" cy="960120"/>
          </a:xfrm>
          <a:prstGeom prst="rect">
            <a:avLst/>
          </a:prstGeom>
          <a:solidFill>
            <a:srgbClr val="FFF4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" y="4462272"/>
            <a:ext cx="457200" cy="457200"/>
          </a:xfrm>
          <a:prstGeom prst="rect">
            <a:avLst/>
          </a:prstGeom>
          <a:solidFill>
            <a:srgbClr val="B779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4462272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4261104"/>
            <a:ext cx="54864" cy="960120"/>
          </a:xfrm>
          <a:prstGeom prst="rect">
            <a:avLst/>
          </a:prstGeom>
          <a:solidFill>
            <a:srgbClr val="B779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80160" y="4352544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  <a:latin typeface="Calibri"/>
              </a:defRPr>
            </a:pPr>
            <a:r>
              <a:t>Course enrollment ≠ achievement — 50% Algebra 1 misleads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5330952"/>
            <a:ext cx="11247120" cy="960120"/>
          </a:xfrm>
          <a:prstGeom prst="rect">
            <a:avLst/>
          </a:prstGeom>
          <a:solidFill>
            <a:srgbClr val="FBE7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40080" y="5532120"/>
            <a:ext cx="457200" cy="457200"/>
          </a:xfrm>
          <a:prstGeom prst="rect">
            <a:avLst/>
          </a:prstGeom>
          <a:solidFill>
            <a:srgbClr val="C83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5532120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5330952"/>
            <a:ext cx="54864" cy="960120"/>
          </a:xfrm>
          <a:prstGeom prst="rect">
            <a:avLst/>
          </a:prstGeom>
          <a:solidFill>
            <a:srgbClr val="C83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280160" y="5422392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  <a:latin typeface="Calibri"/>
              </a:defRPr>
            </a:pPr>
            <a:r>
              <a:t>Opportunity cost real — Birmingham recovered 9× more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ED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FFFFF"/>
                </a:solidFill>
                <a:latin typeface="Calibri"/>
              </a:defRPr>
            </a:pPr>
            <a:r>
              <a:t>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75488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A0B4CC"/>
                </a:solidFill>
                <a:latin typeface="Calibri"/>
              </a:defRPr>
            </a:pPr>
            <a:r>
              <a:t>SEDA 2025.1 (Stanford CEPA) — NAEP-anchored cross-state comparison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38544"/>
            <a:ext cx="82296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Calibri"/>
              </a:defRPr>
            </a:pPr>
            <a:r>
              <a:t>Troy SD G6-G7 Math — Executive Summary • github.com/akarpo/tsd-g6g7math-choice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638544"/>
            <a:ext cx="13716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FFFFFF"/>
                </a:solidFill>
                <a:latin typeface="Calibri"/>
              </a:defRPr>
            </a:pPr>
            <a:r>
              <a:t>21 / 22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051560"/>
            <a:ext cx="11430000" cy="36576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088136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Primary Metric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417320"/>
            <a:ext cx="11430000" cy="822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46304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SEDA cs (cohort-standardized), NAEP-anchored, expressed in grade levels above/below the national average. Enables cross-state, cross-year comparison.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331720"/>
            <a:ext cx="11430000" cy="36576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2368296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Time Windows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697480"/>
            <a:ext cx="11430000" cy="822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274320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Pre-COVID baseline: 2017–19 mean. Post-COVID: 2022–25 mean. IM window: 2022–23 → 2024–25 (the exact adoption period).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3611880"/>
            <a:ext cx="11430000" cy="36576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3648456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Peer Groups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977640"/>
            <a:ext cx="11430000" cy="822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402336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296 level-matched peers: pre-COVID G6+G7 math ±0.25 of Troy’s +0.937. 107 high-Asian peers: ≥20% Asian enrollment, pre-COVID ≥+0.50. 8 MI affluent peers: same state test, comparable demographics.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4892040"/>
            <a:ext cx="11430000" cy="36576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4928616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M-STEP Data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5257800"/>
            <a:ext cx="11430000" cy="822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530352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Michigan School Data (mischooldata.org). % proficient or advanced, grades 6 and 7, 2021–22 through 2024–25.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ED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FFFFF"/>
                </a:solidFill>
                <a:latin typeface="Calibri"/>
              </a:defRPr>
            </a:pPr>
            <a:r>
              <a:t>References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75488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A0B4CC"/>
                </a:solidFill>
                <a:latin typeface="Calibri"/>
              </a:defRPr>
            </a:pPr>
            <a:r>
              <a:t>Primary data sources and research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38544"/>
            <a:ext cx="82296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Calibri"/>
              </a:defRPr>
            </a:pPr>
            <a:r>
              <a:t>Troy SD G6-G7 Math — Executive Summary • github.com/akarpo/tsd-g6g7math-choice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638544"/>
            <a:ext cx="13716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FFFFFF"/>
                </a:solidFill>
                <a:latin typeface="Calibri"/>
              </a:defRPr>
            </a:pPr>
            <a:r>
              <a:t>22 / 22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051560"/>
            <a:ext cx="11430000" cy="8046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143000"/>
            <a:ext cx="457200" cy="6675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1">
                <a:solidFill>
                  <a:srgbClr val="1F3A5F"/>
                </a:solidFill>
                <a:latin typeface="Calibri"/>
              </a:defRPr>
            </a:pPr>
            <a: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1143000"/>
            <a:ext cx="10698480" cy="6675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SEDA 2025.1 — Stanford Center for Education Policy Analysis (CEPA). educationdata.urban.org / edopportunity.org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1892808"/>
            <a:ext cx="11430000" cy="804672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984248"/>
            <a:ext cx="457200" cy="6675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1">
                <a:solidFill>
                  <a:srgbClr val="1F3A5F"/>
                </a:solidFill>
                <a:latin typeface="Calibri"/>
              </a:defRPr>
            </a:pPr>
            <a:r>
              <a:t>2.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1984248"/>
            <a:ext cx="10698480" cy="6675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Education Scorecard 2026 — Harvard-Stanford-Dartmouth collaboration. educationscorecard.org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734056"/>
            <a:ext cx="11430000" cy="8046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2825496"/>
            <a:ext cx="457200" cy="6675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1">
                <a:solidFill>
                  <a:srgbClr val="1F3A5F"/>
                </a:solidFill>
                <a:latin typeface="Calibri"/>
              </a:defRPr>
            </a:pPr>
            <a:r>
              <a:t>3.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2825496"/>
            <a:ext cx="10698480" cy="6675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MI School Data / M-STEP — Michigan Department of Education. mischooldata.org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3575304"/>
            <a:ext cx="11430000" cy="804672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3666744"/>
            <a:ext cx="457200" cy="6675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1">
                <a:solidFill>
                  <a:srgbClr val="1F3A5F"/>
                </a:solidFill>
                <a:latin typeface="Calibri"/>
              </a:defRPr>
            </a:pPr>
            <a:r>
              <a:t>4.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3666744"/>
            <a:ext cx="10698480" cy="6675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Dee, T., Huffaker, E., &amp; Novicoff, S. (2025). “Detracking and Advanced Course-Taking in San Francisco.” SFUSD study.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4416552"/>
            <a:ext cx="11430000" cy="8046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4507992"/>
            <a:ext cx="457200" cy="6675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1">
                <a:solidFill>
                  <a:srgbClr val="1F3A5F"/>
                </a:solidFill>
                <a:latin typeface="Calibri"/>
              </a:defRPr>
            </a:pPr>
            <a:r>
              <a:t>5.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4507992"/>
            <a:ext cx="10698480" cy="6675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Education Next — SFUSD detracking analysis and coverage of the March 2026 board reversal vote.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5257800"/>
            <a:ext cx="11430000" cy="804672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5349240"/>
            <a:ext cx="457200" cy="6675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1">
                <a:solidFill>
                  <a:srgbClr val="1F3A5F"/>
                </a:solidFill>
                <a:latin typeface="Calibri"/>
              </a:defRPr>
            </a:pPr>
            <a:r>
              <a:t>6.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5349240"/>
            <a:ext cx="10698480" cy="6675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Brookings Institution — Detracking evidence review. Comprehensive survey of heterogeneous grouping outcomes.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