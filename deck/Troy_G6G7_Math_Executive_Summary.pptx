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Troy School District G6–G7 Math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83464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Has Illustrative Mathematics + Detracking</a:t>
            </a:r>
            <a:br/>
            <a:r>
              <a:t>Outperformed Its Characteristics?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May 2026  |  SEDA 2025.1 + M-STEP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1 of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The Question — and the One-Line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356616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3A5F"/>
                </a:solidFill>
                <a:latin typeface="Calibri"/>
              </a:defRPr>
            </a:pPr>
            <a: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32004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Has Troy's Fall 2023 adoption of Illustrative Mathematics and detracking of G6+G7 math produced results that outperform its characteristics?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1051560"/>
            <a:ext cx="3566160" cy="457200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1887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C8302F"/>
                </a:solidFill>
                <a:latin typeface="Calibri"/>
              </a:defRPr>
            </a:pPr>
            <a:r>
              <a:t>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645920"/>
            <a:ext cx="32004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No. Troy ranks 197 of 295 level-matched peers (bottom third) in math recovery during the exact IM adoption window.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1051560"/>
            <a:ext cx="3566160" cy="45720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1887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3A5F"/>
                </a:solidFill>
                <a:latin typeface="Calibri"/>
              </a:defRPr>
            </a:pPr>
            <a:r>
              <a:t>Key Numbers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645920"/>
            <a:ext cx="32004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+0.024 grade levels — Troy's IM-window recovery</a:t>
            </a:r>
          </a:p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+0.058 — Median peer recovery</a:t>
            </a:r>
          </a:p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+0.211 — Birmingham (tracked, same county)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2 of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What Troy Did and When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9728" cy="73152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3716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3A5F"/>
                </a:solidFill>
                <a:latin typeface="Calibri"/>
              </a:defRPr>
            </a:pPr>
            <a:r>
              <a:t>Fall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69164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Adopted Illustrative Mathematics, detracked G6 and G7 math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423160"/>
            <a:ext cx="109728" cy="7315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4688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3A5F"/>
                </a:solidFill>
                <a:latin typeface="Calibri"/>
              </a:defRPr>
            </a:pPr>
            <a:r>
              <a:t>Spring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889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First IM cohort tested (G6 M-STEP)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520440"/>
            <a:ext cx="109728" cy="7315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5661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3A5F"/>
                </a:solidFill>
                <a:latin typeface="Calibri"/>
              </a:defRPr>
            </a:pPr>
            <a:r>
              <a:t>Fall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88620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Second IM year; first G7 IM cohort enters 7th grade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617719"/>
            <a:ext cx="109728" cy="7315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663439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3A5F"/>
                </a:solidFill>
                <a:latin typeface="Calibri"/>
              </a:defRPr>
            </a:pPr>
            <a:r>
              <a:t>Spring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983479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Second IM G6 + first IM G7 tested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760720"/>
            <a:ext cx="11247120" cy="5486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777777"/>
                </a:solidFill>
                <a:latin typeface="Calibri"/>
              </a:defRPr>
            </a:pPr>
            <a:r>
              <a:t>Prior: 7th graders had Big Ideas Math 7, Math 7/8 Honors, small Algebra 1 cohort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3 of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Troy's Pre-COVID Math Position — Strong, Not Invincible</a:t>
            </a:r>
          </a:p>
        </p:txBody>
      </p:sp>
      <p:pic>
        <p:nvPicPr>
          <p:cNvPr id="4" name="Picture 3" descr="chart01_mi_peers_g6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685800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498079" y="1051560"/>
            <a:ext cx="4114800" cy="411480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1325880"/>
            <a:ext cx="36576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Pre-COVID G6+G7 math:</a:t>
            </a:r>
          </a:p>
          <a:p>
            <a:pPr algn="l">
              <a:spcAft>
                <a:spcPts val="45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+0.937 grade levels above national norm</a:t>
            </a:r>
          </a:p>
          <a:p>
            <a:pPr algn="l">
              <a:spcAft>
                <a:spcPts val="45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5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3rd highest among MI affluent peers</a:t>
            </a:r>
          </a:p>
          <a:p>
            <a:pPr algn="l">
              <a:spcAft>
                <a:spcPts val="45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5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37% above national average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4 of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The Post-COVID Decline Hit Troy Hard in Math</a:t>
            </a:r>
          </a:p>
        </p:txBody>
      </p:sp>
      <p:pic>
        <p:nvPicPr>
          <p:cNvPr id="4" name="Picture 3" descr="chart09_covid_delta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685800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498079" y="1051560"/>
            <a:ext cx="4114800" cy="320040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1325880"/>
            <a:ext cx="3657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Troy declined -0.187 grade levels</a:t>
            </a:r>
          </a:p>
          <a:p>
            <a:pPr algn="l">
              <a:spcAft>
                <a:spcPts val="45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5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Rank 104 of 296 level-matched peers</a:t>
            </a:r>
          </a:p>
          <a:p>
            <a:pPr algn="l">
              <a:spcAft>
                <a:spcPts val="45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(35th percentile)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5 of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The Critical Test: Recovery During the IM Window (2022–23 → 2024–25)</a:t>
            </a:r>
          </a:p>
        </p:txBody>
      </p:sp>
      <p:pic>
        <p:nvPicPr>
          <p:cNvPr id="4" name="Picture 3" descr="chart04_level_matched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731520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63840" y="1051560"/>
            <a:ext cx="3931920" cy="274320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325880"/>
            <a:ext cx="356616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  <a:defRPr sz="1500" b="1">
                <a:solidFill>
                  <a:srgbClr val="C8302F"/>
                </a:solidFill>
                <a:latin typeface="Calibri"/>
              </a:defRPr>
            </a:pPr>
            <a:r>
              <a:t>Troy ranks 197 of 295</a:t>
            </a:r>
          </a:p>
          <a:p>
            <a:pPr algn="l">
              <a:spcAft>
                <a:spcPts val="450"/>
              </a:spcAft>
              <a:defRPr sz="1500" b="1">
                <a:solidFill>
                  <a:srgbClr val="C8302F"/>
                </a:solidFill>
                <a:latin typeface="Calibri"/>
              </a:defRPr>
            </a:pPr>
            <a:r>
              <a:t>— bottom third</a:t>
            </a:r>
          </a:p>
          <a:p>
            <a:pPr algn="l">
              <a:spcAft>
                <a:spcPts val="450"/>
              </a:spcAft>
              <a:defRPr sz="1500" b="1">
                <a:solidFill>
                  <a:srgbClr val="C8302F"/>
                </a:solidFill>
                <a:latin typeface="Calibri"/>
              </a:defRPr>
            </a:pPr>
          </a:p>
          <a:p>
            <a:pPr algn="l">
              <a:spcAft>
                <a:spcPts val="450"/>
              </a:spcAft>
              <a:defRPr sz="1500" b="1">
                <a:solidFill>
                  <a:srgbClr val="C8302F"/>
                </a:solidFill>
                <a:latin typeface="Calibri"/>
              </a:defRPr>
            </a:pPr>
            <a:r>
              <a:t>Most peers recovered 2-3x more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6 of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Among MI Peers, Troy Ranks 6th of 8 in Recovery</a:t>
            </a:r>
          </a:p>
        </p:txBody>
      </p:sp>
      <p:pic>
        <p:nvPicPr>
          <p:cNvPr id="4" name="Picture 3" descr="chart03_im_window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40080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49440" y="1051560"/>
            <a:ext cx="4846320" cy="5029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0" y="118872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3A5F"/>
                </a:solidFill>
                <a:latin typeface="Calibri"/>
              </a:defRPr>
            </a:pPr>
            <a:r>
              <a:t>IM-Window Recovery Ranking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645920"/>
            <a:ext cx="4480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7A3D"/>
                </a:solidFill>
                <a:latin typeface="Calibri"/>
              </a:defRPr>
            </a:pPr>
            <a:r>
              <a:t>Birmingham  +0.211  (tracked)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176272"/>
            <a:ext cx="4480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7A3D"/>
                </a:solidFill>
                <a:latin typeface="Calibri"/>
              </a:defRPr>
            </a:pPr>
            <a:r>
              <a:t>Northville  +0.102  (tracked)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706624"/>
            <a:ext cx="4480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1F7A3D"/>
                </a:solidFill>
                <a:latin typeface="Calibri"/>
              </a:defRPr>
            </a:pPr>
            <a:r>
              <a:t>Bloomfield Hills  +0.082  (tracked)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236975"/>
            <a:ext cx="4480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Walled Lake  +0.056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767328"/>
            <a:ext cx="4480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Novi  +0.029 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4270248"/>
            <a:ext cx="4663440" cy="475488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0" y="4297680"/>
            <a:ext cx="4480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C8302F"/>
                </a:solidFill>
                <a:latin typeface="Calibri"/>
              </a:defRPr>
            </a:pPr>
            <a:r>
              <a:t>Troy  +0.024  (IM + detracked)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4828031"/>
            <a:ext cx="4480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West Bloomfield  +0.006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358383"/>
            <a:ext cx="4480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Rochester  +0.000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7 of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G7 Math: The Tracked-vs-IM Comparison Year</a:t>
            </a:r>
          </a:p>
        </p:txBody>
      </p:sp>
      <p:pic>
        <p:nvPicPr>
          <p:cNvPr id="4" name="Picture 3" descr="chart02_mi_peers_g7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731520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63840" y="1051560"/>
            <a:ext cx="3931920" cy="32004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325880"/>
            <a:ext cx="3566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2023-24: G7 still tracked — Troy matched peers</a:t>
            </a:r>
          </a:p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2024-25: First G7 IM cohort — recovery stalled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8 of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The Asian Subgroup Crisis — 36% of Troy's Enrollment</a:t>
            </a:r>
          </a:p>
        </p:txBody>
      </p:sp>
      <p:pic>
        <p:nvPicPr>
          <p:cNvPr id="4" name="Picture 3" descr="chart05_asian_g6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731520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63840" y="1051560"/>
            <a:ext cx="3931920" cy="365760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325880"/>
            <a:ext cx="35661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50"/>
              </a:spcAft>
              <a:defRPr sz="1500" b="1">
                <a:solidFill>
                  <a:srgbClr val="C8302F"/>
                </a:solidFill>
                <a:latin typeface="Calibri"/>
              </a:defRPr>
            </a:pPr>
            <a:r>
              <a:t>G6 Asian Δ COVID: -0.409</a:t>
            </a:r>
          </a:p>
          <a:p>
            <a:pPr algn="l">
              <a:spcAft>
                <a:spcPts val="450"/>
              </a:spcAft>
              <a:defRPr sz="1500" b="1">
                <a:solidFill>
                  <a:srgbClr val="C8302F"/>
                </a:solidFill>
                <a:latin typeface="Calibri"/>
              </a:defRPr>
            </a:pPr>
          </a:p>
          <a:p>
            <a:pPr algn="l">
              <a:spcAft>
                <a:spcPts val="450"/>
              </a:spcAft>
              <a:defRPr sz="1500" b="1">
                <a:solidFill>
                  <a:srgbClr val="C8302F"/>
                </a:solidFill>
                <a:latin typeface="Calibri"/>
              </a:defRPr>
            </a:pPr>
            <a:r>
              <a:t>G7 Asian Δ COVID: -0.278</a:t>
            </a:r>
          </a:p>
          <a:p>
            <a:pPr algn="l">
              <a:spcAft>
                <a:spcPts val="450"/>
              </a:spcAft>
              <a:defRPr sz="1500" b="1">
                <a:solidFill>
                  <a:srgbClr val="C8302F"/>
                </a:solidFill>
                <a:latin typeface="Calibri"/>
              </a:defRPr>
            </a:pPr>
          </a:p>
          <a:p>
            <a:pPr algn="l">
              <a:spcAft>
                <a:spcPts val="450"/>
              </a:spcAft>
              <a:defRPr sz="1500" b="1">
                <a:solidFill>
                  <a:srgbClr val="C8302F"/>
                </a:solidFill>
                <a:latin typeface="Calibri"/>
              </a:defRPr>
            </a:pPr>
            <a:r>
              <a:t>G7 Asian IM-window: -0.094</a:t>
            </a:r>
          </a:p>
          <a:p>
            <a:pPr algn="l">
              <a:spcAft>
                <a:spcPts val="450"/>
              </a:spcAft>
              <a:defRPr sz="1500" b="1">
                <a:solidFill>
                  <a:srgbClr val="C8302F"/>
                </a:solidFill>
                <a:latin typeface="Calibri"/>
              </a:defRPr>
            </a:pPr>
            <a:r>
              <a:t>(still declining)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9 of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G7 Asian Math Is Still Declining Under IM</a:t>
            </a:r>
          </a:p>
        </p:txBody>
      </p:sp>
      <p:pic>
        <p:nvPicPr>
          <p:cNvPr id="4" name="Picture 3" descr="chart06_asian_g7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731520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63840" y="1051560"/>
            <a:ext cx="3931920" cy="34747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325880"/>
            <a:ext cx="35661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Bellevue (WA, 41% Asian):</a:t>
            </a:r>
          </a:p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  G7 Asian IM-Δ = +0.162</a:t>
            </a:r>
          </a:p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Issaquah (WA, 30% Asian):</a:t>
            </a:r>
          </a:p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  +0.218</a:t>
            </a:r>
          </a:p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Troy (MI, 36% Asian):</a:t>
            </a:r>
          </a:p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  -0.094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10 of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Every Subgroup Declined — But Recovery Is Uneven</a:t>
            </a:r>
          </a:p>
        </p:txBody>
      </p:sp>
      <p:pic>
        <p:nvPicPr>
          <p:cNvPr id="4" name="Picture 3" descr="chart07_troy_subgroup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731520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63840" y="1051560"/>
            <a:ext cx="3931920" cy="2743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325880"/>
            <a:ext cx="356616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Asian and White subgroups show largest absolute declines</a:t>
            </a:r>
          </a:p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ECD subgroup was already near national average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11 of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M-STEP Math Proficiency: The Numbers Parents See</a:t>
            </a:r>
          </a:p>
        </p:txBody>
      </p:sp>
      <p:pic>
        <p:nvPicPr>
          <p:cNvPr id="4" name="Picture 3" descr="chart08_mstep_troy_pro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731520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63840" y="1051560"/>
            <a:ext cx="3931920" cy="41148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18872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3A5F"/>
                </a:solidFill>
                <a:latin typeface="Calibri"/>
              </a:defRPr>
            </a:pPr>
            <a:r>
              <a:t>% Proficient or Advanced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691640"/>
            <a:ext cx="356616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G6: 71.4% → 63.2% → 66.3% → 65.8%</a:t>
            </a:r>
          </a:p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G7: 67.5% → 61.3% → 66.0% → TBD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4160520"/>
            <a:ext cx="3931920" cy="8229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4251960"/>
            <a:ext cx="3566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C8302F"/>
                </a:solidFill>
                <a:latin typeface="Calibri"/>
              </a:defRPr>
            </a:pPr>
            <a:r>
              <a:t>IM has not restored Troy to pre-COVID proficiency levels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12 of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San Francisco: 12 Years of Detracking, Then Reversal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09728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463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1. Achievement gaps WIDENED: Hispanic-White gap expanded 31 points (vs 5 statewide)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697480"/>
            <a:ext cx="10698480" cy="109728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2. AP math enrollment DECLINED 15%, driven by Asian/Pacific Islander students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069080"/>
            <a:ext cx="10698480" cy="109728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3. Board voted March 2026 to RESTORE Algebra 1 in 8th grade at all schools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577840"/>
            <a:ext cx="10698480" cy="6400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623560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Troy is replicating a strategy with a well-documented failure 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13 of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Cambridge, MA: Detracked 2017–2019, Now Reversing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5303520" cy="411480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B7791F"/>
                </a:solidFill>
                <a:latin typeface="Calibri"/>
              </a:defRPr>
            </a:pPr>
            <a:r>
              <a:t>What They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Eliminated accelerated math tracks to address racial disparities in advanced course enrollment.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08760"/>
            <a:ext cx="5303520" cy="411480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C8302F"/>
                </a:solidFill>
                <a:latin typeface="Calibri"/>
              </a:defRPr>
            </a:pPr>
            <a:r>
              <a:t>What Happened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COVID obscured early results. District now reversing course, restoring algebra to 8th grade, citing persistent achievement gaps.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14 of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The '50% Algebra 1' Claim — Course Access ≠ Achievement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1887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087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1. SFUSD made the identical claim for a decade before test scores revealed no improvement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88920"/>
            <a:ext cx="10698480" cy="11887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2. SEDA shows Troy's G6+G7 math readiness dropped from +0.937 to +0.750 — a quarter-grade-level decline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51960"/>
            <a:ext cx="10698480" cy="1188720"/>
          </a:xfrm>
          <a:prstGeom prst="rect">
            <a:avLst/>
          </a:prstGeom>
          <a:solidFill>
            <a:srgbClr val="FF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4348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3. The comparison is not past Troy enrollment — it's what tracked peers achieve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15 of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What High-Performing Math Districts Do Differently</a:t>
            </a:r>
          </a:p>
        </p:txBody>
      </p:sp>
      <p:pic>
        <p:nvPicPr>
          <p:cNvPr id="4" name="Picture 3" descr="chart10_high_asian_peers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7315200" cy="5029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63840" y="1051560"/>
            <a:ext cx="3931920" cy="320040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1325880"/>
            <a:ext cx="3566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Among 107 high-Asian (≥20%) districts, many California and NJ districts recovered to or surpassed pre-COVID levels</a:t>
            </a:r>
          </a:p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spcAft>
                <a:spcPts val="42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— with tracking intact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16 of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Illustrative Mathematics: Evidence Gaps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3474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District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280160"/>
            <a:ext cx="3291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280160"/>
            <a:ext cx="4114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11247120" cy="777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20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NYC District 11 (Bronx)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8745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25.8% → 50.6%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874520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777777"/>
                </a:solidFill>
                <a:latin typeface="Calibri"/>
              </a:defRPr>
            </a:pPr>
            <a:r>
              <a:t>High-poverty, low-baseline, not comparable to Troy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112471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697480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Fort Zumwalt (MO)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69748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Effect size 0.16 SD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697480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777777"/>
                </a:solidFill>
                <a:latin typeface="Calibri"/>
              </a:defRPr>
            </a:pPr>
            <a:r>
              <a:t>Modest, comparable to general instructional improvement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80"/>
            <a:ext cx="11247120" cy="777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Calibri"/>
              </a:defRPr>
            </a:pPr>
            <a:r>
              <a:t>Philadelphia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352044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Process study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520440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777777"/>
                </a:solidFill>
                <a:latin typeface="Calibri"/>
              </a:defRPr>
            </a:pPr>
            <a:r>
              <a:t>No outcomes data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023360"/>
            <a:ext cx="11247120" cy="822960"/>
          </a:xfrm>
          <a:prstGeom prst="rect">
            <a:avLst/>
          </a:prstGeom>
          <a:solidFill>
            <a:srgbClr val="FBE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11480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C8302F"/>
                </a:solidFill>
                <a:latin typeface="Calibri"/>
              </a:defRPr>
            </a:pPr>
            <a:r>
              <a:t>No published evidence of IM success in an affluent, high-performing, high-Asian district like Troy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17 of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91440" cy="77724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188720"/>
            <a:ext cx="10515600" cy="777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>
                <a:solidFill>
                  <a:srgbClr val="C8302F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32588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Troy has NOT outperformed its characteristics — bottom third of 295 peers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91440" cy="77724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94560"/>
            <a:ext cx="10515600" cy="777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8600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>
                <a:solidFill>
                  <a:srgbClr val="C8302F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33172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Asian subgroup is most concerning — G7 Asian STILL declining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00400"/>
            <a:ext cx="91440" cy="77724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00400"/>
            <a:ext cx="10515600" cy="777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918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>
                <a:solidFill>
                  <a:srgbClr val="B7791F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33756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Detracking evidence base is against this approach — SFUSD, Cambridge reversed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06240"/>
            <a:ext cx="91440" cy="77724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206240"/>
            <a:ext cx="10515600" cy="777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>
                <a:solidFill>
                  <a:srgbClr val="B7791F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Course enrollment ≠ achievement — '50% Algebra 1' claim misleads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212080"/>
            <a:ext cx="91440" cy="777240"/>
          </a:xfrm>
          <a:prstGeom prst="rect">
            <a:avLst/>
          </a:prstGeom>
          <a:solidFill>
            <a:srgbClr val="C830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5212080"/>
            <a:ext cx="10515600" cy="777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30352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>
                <a:solidFill>
                  <a:srgbClr val="C8302F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4924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Opportunity cost is real: Birmingham recovered 9× more in the same 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18 of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44168"/>
            <a:ext cx="91440" cy="91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2344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Primary metric: SEDA cs (cohort-standardized), NAEP-anchored, expressed in grade levels above/below national average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65960"/>
            <a:ext cx="91440" cy="91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56232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Pre-COVID baseline: 2017–2019 mean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587752"/>
            <a:ext cx="91440" cy="91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478024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Post-COVID: 2022–2025 mean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209544"/>
            <a:ext cx="91440" cy="91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099816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IM window: 2022–23 → 2024–25 (the exact adoption period)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31336"/>
            <a:ext cx="91440" cy="91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721608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296 level-matched peers: pre-COVID G6+G7 math ±0.25 of Troy's +0.937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453128"/>
            <a:ext cx="91440" cy="91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3434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107 high-Asian peers: ≥20% Asian enrollment, pre-COVID ≥+0.50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074920"/>
            <a:ext cx="91440" cy="91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965192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8 MI affluent peers: same state test, comparable demographics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696712"/>
            <a:ext cx="91440" cy="91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586984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M-STEP data from Michigan School Data (mischooldata.org)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19 of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35608"/>
            <a:ext cx="91440" cy="91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25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SEDA 2025.1 (Stanford CEPA) — educationdata.urban.org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67128"/>
            <a:ext cx="91440" cy="91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0574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Education Scorecard 2026 (Harvard-Stanford-Dartmouth)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898648"/>
            <a:ext cx="91440" cy="91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7889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MI School Data / M-STEP — mischooldata.org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630168"/>
            <a:ext cx="91440" cy="91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5204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Dee, Huffaker, &amp; Novicoff (2025) — SFUSD detracking 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61688"/>
            <a:ext cx="91440" cy="91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2519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Education Next — SFUSD detracking analysis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093208"/>
            <a:ext cx="91440" cy="91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834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Brookings Institution — detracking evidence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0196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777777"/>
                </a:solidFill>
                <a:latin typeface="Calibri"/>
              </a:defRPr>
            </a:pPr>
            <a:r>
              <a:t>Troy School District G6-G7 Math Analysis  |  Slide 20 of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