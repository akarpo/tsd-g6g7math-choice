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Troy SD G6-G7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Has IM + Detracking Outperformed Its Characteristics?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54864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Executive Summary — SEDA 2025.1 + M-STEP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Prepared May 2026 • 296-district national benchmark • 2009–2025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Calibri"/>
              </a:defRPr>
            </a:pPr>
            <a:r>
              <a:t>Repo: github.com/akarpo/tsd-g6g7math-choice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The Question — and the One-Line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three independent lines of evidence converge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12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3A5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Has Troy’s Fall 2023 adoption of Illustrative Mathematics and detracking of G6+G7 math produced results that outperform its characteristics?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840480" cy="237744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612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B02121"/>
                </a:solidFill>
                <a:latin typeface="Calibri"/>
              </a:defRPr>
            </a:pPr>
            <a:r>
              <a:t>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Troy ranks 197 of 295 level-matched peers (bottom third) in math recovery during the exact IM adoption window.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3657600" cy="2651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3657600" cy="36576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199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B02121"/>
                </a:solidFill>
                <a:latin typeface="Calibri"/>
              </a:defRPr>
            </a:pPr>
            <a:r>
              <a:t>197 / 295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79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Level-matched peers rank Troy in the bottom third for IM-window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749039"/>
            <a:ext cx="3657600" cy="2651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749039"/>
            <a:ext cx="3657600" cy="36576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886199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B02121"/>
                </a:solidFill>
                <a:latin typeface="Calibri"/>
              </a:defRPr>
            </a:pPr>
            <a:r>
              <a:t>6th of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26279"/>
            <a:ext cx="3383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MI peers outpaced Troy in IM-window recovery (+0.076 vs +0.080 median)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3749039"/>
            <a:ext cx="4114800" cy="26517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749039"/>
            <a:ext cx="4114800" cy="36576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886199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B02121"/>
                </a:solidFill>
                <a:latin typeface="Calibri"/>
              </a:defRPr>
            </a:pPr>
            <a:r>
              <a:t>−0.028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526279"/>
            <a:ext cx="3657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G7 Asian still declining under IM — only subgroup not recovering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What Troy Did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Fall 2023: Illustrative Mathematics adopted, G6+G7 math detracked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9875520" cy="36576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3099816"/>
            <a:ext cx="201168" cy="201168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Fall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40" y="34747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Adopted Illustrative Mathematics;</a:t>
            </a:r>
            <a:br/>
            <a:r>
              <a:t>detracked G6 and G7 math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3099816"/>
            <a:ext cx="201168" cy="201168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Spring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747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First IM cohort tested</a:t>
            </a:r>
            <a:br/>
            <a:r>
              <a:t>(G6 M-STEP)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376" y="3099816"/>
            <a:ext cx="201168" cy="201168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Fall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Second IM year; first G7 IM</a:t>
            </a:r>
            <a:br/>
            <a:r>
              <a:t>cohort enters 7th 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72216" y="3099816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2860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3A5F"/>
                </a:solidFill>
                <a:latin typeface="Calibri"/>
              </a:defRPr>
            </a:pPr>
            <a:r>
              <a:t>Spring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474720"/>
            <a:ext cx="2377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Second IM G6 +</a:t>
            </a:r>
            <a:br/>
            <a:r>
              <a:t>first IM G7 tested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707070"/>
                </a:solidFill>
                <a:latin typeface="Calibri"/>
              </a:defRPr>
            </a:pPr>
            <a:r>
              <a:t>Prior: Big Ideas Math 7, Math 7/8 Honors, small Algebra 1 cohort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Troy’s Pre-COVID Math Position — Strong, Not Invincible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Pre-COVID G6+G7: +0.937 grade levels above national norm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 / 16</a:t>
            </a:r>
          </a:p>
        </p:txBody>
      </p:sp>
      <p:pic>
        <p:nvPicPr>
          <p:cNvPr id="8" name="Picture 7" descr="chart01_mi_peers_g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F7A3D"/>
                </a:solidFill>
                <a:latin typeface="Calibri"/>
              </a:defRPr>
            </a:pPr>
            <a:r>
              <a:t>+0.937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474719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grade levels above national norm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2nd highest among MI affluent peers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Top quarter nationally (#76 / 296)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COVID Erased Troy's Math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Pre-COVID #76 to Post-COVID #135 among 296 level-matched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 / 16</a:t>
            </a:r>
          </a:p>
        </p:txBody>
      </p:sp>
      <p:pic>
        <p:nvPicPr>
          <p:cNvPr id="8" name="Picture 7" descr="chart11_rank_shif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B02121"/>
                </a:solidFill>
                <a:latin typeface="Calibri"/>
              </a:defRPr>
            </a:pPr>
            <a:r>
              <a:t>#76 → #135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474719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Lost 59 positions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Pre-COVID: top quarter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Post-COVID: mid-pack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COVID hit Troy harder than most peers. This is the deficit IM inherited.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MI Peer Leaderboard: Troy Holds at 4th in IM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rank unchanged from 2023 to 2025 — no ground gained or lost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 / 16</a:t>
            </a:r>
          </a:p>
        </p:txBody>
      </p:sp>
      <p:pic>
        <p:nvPicPr>
          <p:cNvPr id="8" name="Picture 7" descr="chart12_mi_peer_b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A8201A"/>
                </a:solidFill>
                <a:latin typeface="Calibri"/>
              </a:defRPr>
            </a:pPr>
            <a:r>
              <a:t>Troy’s Rank Shift by Subgroup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554480"/>
            <a:ext cx="3474719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60020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Subgroup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600200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160020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938528"/>
            <a:ext cx="34747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198424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All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198424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4th→4th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19842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07070"/>
                </a:solidFill>
                <a:latin typeface="Calibri"/>
              </a:defRPr>
            </a:pPr>
            <a:r>
              <a:t>±0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322576"/>
            <a:ext cx="3474719" cy="38404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236829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Asian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36829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3rd→3rd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236829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07070"/>
                </a:solidFill>
                <a:latin typeface="Calibri"/>
              </a:defRPr>
            </a:pPr>
            <a:r>
              <a:t>±0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706624"/>
            <a:ext cx="34747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2752344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75234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4th→5th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275234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02121"/>
                </a:solidFill>
                <a:latin typeface="Calibri"/>
              </a:defRPr>
            </a:pPr>
            <a:r>
              <a:t>−1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090672"/>
            <a:ext cx="3474719" cy="38404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313639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Econ Disadv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13639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3rd→3rd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313639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07070"/>
                </a:solidFill>
                <a:latin typeface="Calibri"/>
              </a:defRPr>
            </a:pPr>
            <a:r>
              <a:t>±0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3474720"/>
            <a:ext cx="34747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352044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Not Econ Disadv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52044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3rd→3rd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352044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707070"/>
                </a:solidFill>
                <a:latin typeface="Calibri"/>
              </a:defRPr>
            </a:pPr>
            <a:r>
              <a:t>±0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041648"/>
            <a:ext cx="34747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C6A11"/>
                </a:solidFill>
                <a:latin typeface="Calibri"/>
              </a:defRPr>
            </a:pPr>
            <a:r>
              <a:t>White subgroup dropped one spot (4th→5th).</a:t>
            </a:r>
            <a:br/>
            <a:r>
              <a:t>Rank stability = not closing the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IM-Window Recovery: Troy Mid-Pack Among 22 Districts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Troy +0.076 — 13th of 22 analysis districts (2023-2025)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7 / 16</a:t>
            </a:r>
          </a:p>
        </p:txBody>
      </p:sp>
      <p:pic>
        <p:nvPicPr>
          <p:cNvPr id="8" name="Picture 7" descr="chart09_covid_delta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CC6A11"/>
                </a:solidFill>
                <a:latin typeface="Calibri"/>
              </a:defRPr>
            </a:pPr>
            <a:r>
              <a:t>+0.076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737360"/>
            <a:ext cx="3474719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grade-level recovery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(2023 → 2025)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Rank 13 / 22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mid-pack among analysis districts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6th of 8 MI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The Critical Test: Recovery During the IM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296-peer ranking of IM-window recovery — Troy in the bottom third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8 / 16</a:t>
            </a:r>
          </a:p>
        </p:txBody>
      </p:sp>
      <p:pic>
        <p:nvPicPr>
          <p:cNvPr id="8" name="Picture 7" descr="chart04_level_matched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B02121"/>
                </a:solidFill>
                <a:latin typeface="Calibri"/>
              </a:defRPr>
            </a:pPr>
            <a:r>
              <a:t>Rank 197 / 295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54480"/>
            <a:ext cx="34747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02121"/>
                </a:solidFill>
                <a:latin typeface="Calibri"/>
              </a:defRPr>
            </a:pPr>
            <a:r>
              <a:t>bottom third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474719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Troy: +0.024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Peer median: +0.058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Most peers recovered 2–3× 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Among MI Peers, Troy Ranks 6th of 8 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Novi leads with 1.6x more recovery; Troy trails the median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9 / 16</a:t>
            </a:r>
          </a:p>
        </p:txBody>
      </p:sp>
      <p:pic>
        <p:nvPicPr>
          <p:cNvPr id="8" name="Picture 7" descr="chart03_im_window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640080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0" y="914400"/>
            <a:ext cx="5029200" cy="53949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051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A5F"/>
                </a:solidFill>
                <a:latin typeface="Calibri"/>
              </a:defRPr>
            </a:pPr>
            <a:r>
              <a:t>IM-Window Recovery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636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7A3D"/>
                </a:solidFill>
                <a:latin typeface="Calibri"/>
              </a:defRPr>
            </a:pPr>
            <a:r>
              <a:t>Novi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56362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7A3D"/>
                </a:solidFill>
                <a:latin typeface="Calibri"/>
              </a:defRPr>
            </a:pPr>
            <a:r>
              <a:t>+0.123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756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7A3D"/>
                </a:solidFill>
                <a:latin typeface="Calibri"/>
              </a:defRPr>
            </a:pPr>
            <a:r>
              <a:t>Birmingham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07568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7A3D"/>
                </a:solidFill>
                <a:latin typeface="Calibri"/>
              </a:defRPr>
            </a:pPr>
            <a:r>
              <a:t>+0.095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20756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Calibri"/>
              </a:defRPr>
            </a:pPr>
            <a:r>
              <a:t>(tracked)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877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7A3D"/>
                </a:solidFill>
                <a:latin typeface="Calibri"/>
              </a:defRPr>
            </a:pPr>
            <a:r>
              <a:t>Northville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58775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7A3D"/>
                </a:solidFill>
                <a:latin typeface="Calibri"/>
              </a:defRPr>
            </a:pPr>
            <a:r>
              <a:t>+0.082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2587752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Calibri"/>
              </a:defRPr>
            </a:pPr>
            <a:r>
              <a:t>(tracked)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09981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Rochester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09981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+0.080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611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F7A3D"/>
                </a:solidFill>
                <a:latin typeface="Calibri"/>
              </a:defRPr>
            </a:pPr>
            <a:r>
              <a:t>Bloomfield Hills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6118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7A3D"/>
                </a:solidFill>
                <a:latin typeface="Calibri"/>
              </a:defRPr>
            </a:pPr>
            <a:r>
              <a:t>+0.079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36118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Calibri"/>
              </a:defRPr>
            </a:pPr>
            <a:r>
              <a:t>(tracked)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4050792"/>
            <a:ext cx="4754880" cy="512064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12394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Troy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12394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+0.076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123944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07070"/>
                </a:solidFill>
                <a:latin typeface="Calibri"/>
              </a:defRPr>
            </a:pPr>
            <a:r>
              <a:t>(IM+detracked)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636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West Bloomfield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63600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+0.039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1480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Walled 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514807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+0.016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G7 Math: The Tracked-vs-IM Comparison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2023-24 G7 tracked (+0.018). 2024-25 first G7 IM cohort (+0.061)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10 / 16</a:t>
            </a:r>
          </a:p>
        </p:txBody>
      </p:sp>
      <p:pic>
        <p:nvPicPr>
          <p:cNvPr id="8" name="Picture 7" descr="chart02_mi_peers_g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233172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7A3D"/>
                </a:solidFill>
                <a:latin typeface="Calibri"/>
              </a:defRPr>
            </a:pPr>
            <a:r>
              <a:t>2023-24: G7 still tracked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63040"/>
            <a:ext cx="3474719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G7 still used Big Ideas Math with tracking. Troy gained +0.018 — 7th of 8 MI peers.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3749039" cy="256032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520440"/>
            <a:ext cx="3474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7A3D"/>
                </a:solidFill>
                <a:latin typeface="Calibri"/>
              </a:defRPr>
            </a:pPr>
            <a:r>
              <a:t>2024-25: First G7 IM 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931920"/>
            <a:ext cx="347471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Troy gained +0.061 — 2nd of 8 MI peers. Recovery accelerated under 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Asian Subgroup: G6 Leads Recovery, G7 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36% of Troy — strongest G6 IM-window recovery of any subgroup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11 / 16</a:t>
            </a:r>
          </a:p>
        </p:txBody>
      </p:sp>
      <p:pic>
        <p:nvPicPr>
          <p:cNvPr id="8" name="Picture 7" descr="chart05_asian_g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G6 Asian IM Δ: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17320"/>
            <a:ext cx="34747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7A3D"/>
                </a:solidFill>
                <a:latin typeface="Calibri"/>
              </a:defRPr>
            </a:pPr>
            <a:r>
              <a:t>+0.312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96596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Strongest recovery of any Troy subgroup. #2 among MI peers in G6 Asian.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514600"/>
            <a:ext cx="3474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G7 Asian IM Δ: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80360"/>
            <a:ext cx="34747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B02121"/>
                </a:solidFill>
                <a:latin typeface="Calibri"/>
              </a:defRPr>
            </a:pPr>
            <a:r>
              <a:t>−0.028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2900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Only subgroup still declining. G7 had just one year of 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977640"/>
            <a:ext cx="34747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Gap from pre-COVID: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343400"/>
            <a:ext cx="34747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CC6A11"/>
                </a:solidFill>
                <a:latin typeface="Calibri"/>
              </a:defRPr>
            </a:pPr>
            <a:r>
              <a:t>−0.340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4747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G7 Asian still far below 2017-19 baseline despite G6 recovery.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What High-Performing Math Districts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among 107 high-Asian (&gt;=20%) peers, many recovered with tracking intact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12 / 16</a:t>
            </a:r>
          </a:p>
        </p:txBody>
      </p:sp>
      <p:pic>
        <p:nvPicPr>
          <p:cNvPr id="8" name="Picture 7" descr="chart10_high_asian_peers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786384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914400"/>
            <a:ext cx="3749039" cy="539496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4747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7A3D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47471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Among 107 high-Asian (≥20%) districts nationally, many California and New Jersey districts recovered to or surpassed pre-COVID levels.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These districts maintained tracking and traditional acceleration pathways.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Troy is an outlier among its demographic peers — one of the few to adopt detracking.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data does not support the claim that detracking is necessary for equitable outcomes.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Troy Slid from Top 2% to Top 4% Nationally in G6+G7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Year-by-year SEDA national ranking (all U.S. districts) + absolute level among 296 level-matched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4754880" cy="420624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2121"/>
                </a:solidFill>
                <a:latin typeface="Calibri"/>
              </a:defRPr>
            </a:pPr>
            <a:r>
              <a:t>National G6+G7 Math ranking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07070"/>
                </a:solidFill>
                <a:latin typeface="Calibri"/>
              </a:defRPr>
            </a:pPr>
            <a:r>
              <a:t>SEDA 2025.1 cs scale -- all U.S. districts with G6+G7 math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4572000" cy="274320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3677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3677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63677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36776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Percentile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29384"/>
            <a:ext cx="4572000" cy="36576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47672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947672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+0.952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947672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173 / 8,751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94767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7A3D"/>
                </a:solidFill>
                <a:latin typeface="Calibri"/>
              </a:defRPr>
            </a:pPr>
            <a:r>
              <a:t>Top 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3317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+0.763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33172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229 / 8,215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3317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Top 2.8%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15768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2121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1576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02121"/>
                </a:solidFill>
                <a:latin typeface="Consolas"/>
              </a:defRPr>
            </a:pPr>
            <a:r>
              <a:t>+0.713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2715768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2121"/>
                </a:solidFill>
                <a:latin typeface="Consolas"/>
              </a:defRPr>
            </a:pPr>
            <a:r>
              <a:t>269 / 7,190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715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Top 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09981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2121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099816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02121"/>
                </a:solidFill>
                <a:latin typeface="Consolas"/>
              </a:defRPr>
            </a:pPr>
            <a:r>
              <a:t>+0.734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099816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2121"/>
                </a:solidFill>
                <a:latin typeface="Consolas"/>
              </a:defRPr>
            </a:pPr>
            <a:r>
              <a:t>294 / 6,995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0998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Top 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483864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02121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483864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02121"/>
                </a:solidFill>
                <a:latin typeface="Consolas"/>
              </a:defRPr>
            </a:pPr>
            <a:r>
              <a:t>+0.790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3483864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2121"/>
                </a:solidFill>
                <a:latin typeface="Consolas"/>
              </a:defRPr>
            </a:pPr>
            <a:r>
              <a:t>240 / 5,896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3483864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02121"/>
                </a:solidFill>
                <a:latin typeface="Calibri"/>
              </a:defRPr>
            </a:pPr>
            <a:r>
              <a:t>Top 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5876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02121"/>
                </a:solidFill>
                <a:latin typeface="Calibri"/>
              </a:defRPr>
            </a:pPr>
            <a:r>
              <a:t>Dropped ~70 national places since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Troy went from top 2% nationally to top 4%.</a:t>
            </a:r>
            <a:br/>
            <a:r>
              <a:t>Score declined -0.162 grade levels.</a:t>
            </a:r>
            <a:br/>
            <a:r>
              <a:t>2025 rank ticks up as score partially recovered.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091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07070"/>
                </a:solidFill>
                <a:latin typeface="Calibri"/>
              </a:defRPr>
            </a:pPr>
            <a:r>
              <a:t>Pool note: ranking requires both G6 + G7 data. 9 states (IL, PA, OK, KS, ME, OR, MT, ND, UT) have no G7 math data in SEDA 2025.1, shrinking the pool from 8,751 to 5,896.</a:t>
            </a:r>
          </a:p>
        </p:txBody>
      </p:sp>
      <p:pic>
        <p:nvPicPr>
          <p:cNvPr id="40" name="Picture 39" descr="chart_seda_scatter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868680"/>
            <a:ext cx="6675120" cy="420624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74320" y="5166360"/>
            <a:ext cx="11612880" cy="1234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Among 296 level-matched peers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4406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Pre-COVID rank:  76 / 296  (top quarter)</a:t>
            </a:r>
            <a:br/>
            <a:r>
              <a:t>Post-COVID rank: 135 / 296  (bottom 55%)</a:t>
            </a:r>
            <a:br/>
            <a:r>
              <a:t>70 districts leapfrogged Troy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52120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Michigan affluent peers -- score delta (2019 to 2025)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4681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Birmingham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4681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7A3D"/>
                </a:solidFill>
                <a:latin typeface="Calibri"/>
              </a:defRPr>
            </a:pPr>
            <a:r>
              <a:t>+0.131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4681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Northville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4681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7A3D"/>
                </a:solidFill>
                <a:latin typeface="Calibri"/>
              </a:defRPr>
            </a:pPr>
            <a:r>
              <a:t>+0.087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4681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Bloomfield Hills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4681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7A3D"/>
                </a:solidFill>
                <a:latin typeface="Calibri"/>
              </a:defRPr>
            </a:pPr>
            <a:r>
              <a:t>+0.085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54681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Troy SD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546811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02121"/>
                </a:solidFill>
                <a:latin typeface="Calibri"/>
              </a:defRPr>
            </a:pPr>
            <a:r>
              <a:t>-0.162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7881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Novi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57881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02121"/>
                </a:solidFill>
                <a:latin typeface="Calibri"/>
              </a:defRPr>
            </a:pPr>
            <a:r>
              <a:t>-0.167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7881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W. Bloomfield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57881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02121"/>
                </a:solidFill>
                <a:latin typeface="Calibri"/>
              </a:defRPr>
            </a:pPr>
            <a:r>
              <a:t>-0.181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7881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Rochester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7881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02121"/>
                </a:solidFill>
                <a:latin typeface="Calibri"/>
              </a:defRPr>
            </a:pPr>
            <a:r>
              <a:t>-0.188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57881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Walled Lake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57881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02121"/>
                </a:solidFill>
                <a:latin typeface="Calibri"/>
              </a:defRPr>
            </a:pPr>
            <a:r>
              <a:t>-0.197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Math: four findings from SEDA and M-STEP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47120" cy="9601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52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051560"/>
            <a:ext cx="54864" cy="960120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1430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Troy has NOT outperformed — 6th of 8 MI peers, 197/295 nationally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11247120" cy="96012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22576"/>
            <a:ext cx="457200" cy="457200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225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21408"/>
            <a:ext cx="54864" cy="960120"/>
          </a:xfrm>
          <a:prstGeom prst="rect">
            <a:avLst/>
          </a:prstGeom>
          <a:solidFill>
            <a:srgbClr val="B0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21284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G7 Asian most concerning — only subgroup still declining (-0.028)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91256"/>
            <a:ext cx="11247120" cy="960120"/>
          </a:xfrm>
          <a:prstGeom prst="rect">
            <a:avLst/>
          </a:prstGeom>
          <a:solidFill>
            <a:srgbClr val="E6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91256"/>
            <a:ext cx="54864" cy="960120"/>
          </a:xfrm>
          <a:prstGeom prst="rect">
            <a:avLst/>
          </a:prstGeom>
          <a:solidFill>
            <a:srgbClr val="1F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28269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G6 Asian a bright spot — strongest recovery (+0.312), #2 MI peers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61104"/>
            <a:ext cx="11247120" cy="96012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62272"/>
            <a:ext cx="457200" cy="457200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61104"/>
            <a:ext cx="54864" cy="960120"/>
          </a:xfrm>
          <a:prstGeom prst="rect">
            <a:avLst/>
          </a:prstGeom>
          <a:solidFill>
            <a:srgbClr val="CC6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35254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Recovery real but slow — all subgroups still below pre-COVID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G6+G7 Math — SEDA 2025.1 (Stanford CEPA) — NAEP-anchored cross-state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8813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Primary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SEDA cs (cohort-standardized), NAEP-anchored, expressed in grade levels above/below the national average. Enables cross-state, cross-year comparison.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6829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 Windows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Pre-COVID baseline: 2017–19 mean. Post-COVID: 2022–25 mean. IM window: 2023 → 2025 (last pre-IM test to latest data).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4845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Peer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296 level-matched peers: pre-COVID G6+G7 math ±0.25 of Troy’s +0.937. 107 high-Asian peers: ≥20% Asian enrollment, pre-COVID ≥+0.50. 8 MI affluent peers: same state test, comparable demographics.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2861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M-STEP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Michigan School Data (mischooldata.org). % proficient or advanced, grades 6 and 7, 2021–22 through 2024–25.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Primary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38544"/>
            <a:ext cx="8229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Troy SD G6-G7 Math — Executive Summary • github.com/akarpo/tsd-g6g7math-choice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11430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457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43000"/>
            <a:ext cx="106984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SEDA 2025.1 -- Stanford Center for Education Policy Analysis (CEPA). edopportunity.org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92808"/>
            <a:ext cx="1143000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84248"/>
            <a:ext cx="457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106984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Education Scorecard 2026 -- Harvard-Stanford-Dartmouth collaboration. educationscorecard.org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34056"/>
            <a:ext cx="114300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25496"/>
            <a:ext cx="4572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3A5F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106984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 School Data / M-STEP -- Michigan Department of Education. mischooldata.org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